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4"/>
  </p:notesMasterIdLst>
  <p:handoutMasterIdLst>
    <p:handoutMasterId r:id="rId55"/>
  </p:handoutMasterIdLst>
  <p:sldIdLst>
    <p:sldId id="256" r:id="rId3"/>
    <p:sldId id="257" r:id="rId4"/>
    <p:sldId id="258" r:id="rId5"/>
    <p:sldId id="259" r:id="rId6"/>
    <p:sldId id="260" r:id="rId7"/>
    <p:sldId id="261" r:id="rId8"/>
    <p:sldId id="262" r:id="rId9"/>
    <p:sldId id="263" r:id="rId10"/>
    <p:sldId id="264" r:id="rId11"/>
    <p:sldId id="273" r:id="rId12"/>
    <p:sldId id="265" r:id="rId13"/>
    <p:sldId id="282" r:id="rId14"/>
    <p:sldId id="284" r:id="rId15"/>
    <p:sldId id="267" r:id="rId16"/>
    <p:sldId id="268" r:id="rId17"/>
    <p:sldId id="298" r:id="rId18"/>
    <p:sldId id="299" r:id="rId19"/>
    <p:sldId id="300" r:id="rId20"/>
    <p:sldId id="301" r:id="rId21"/>
    <p:sldId id="302" r:id="rId22"/>
    <p:sldId id="303" r:id="rId23"/>
    <p:sldId id="304" r:id="rId24"/>
    <p:sldId id="286" r:id="rId25"/>
    <p:sldId id="290" r:id="rId26"/>
    <p:sldId id="291" r:id="rId27"/>
    <p:sldId id="292" r:id="rId28"/>
    <p:sldId id="293" r:id="rId29"/>
    <p:sldId id="294" r:id="rId30"/>
    <p:sldId id="295" r:id="rId31"/>
    <p:sldId id="296" r:id="rId32"/>
    <p:sldId id="287" r:id="rId33"/>
    <p:sldId id="336" r:id="rId34"/>
    <p:sldId id="288" r:id="rId35"/>
    <p:sldId id="337" r:id="rId36"/>
    <p:sldId id="320" r:id="rId37"/>
    <p:sldId id="321" r:id="rId38"/>
    <p:sldId id="322" r:id="rId39"/>
    <p:sldId id="323" r:id="rId40"/>
    <p:sldId id="324" r:id="rId41"/>
    <p:sldId id="325" r:id="rId42"/>
    <p:sldId id="326" r:id="rId43"/>
    <p:sldId id="327" r:id="rId44"/>
    <p:sldId id="328" r:id="rId45"/>
    <p:sldId id="329" r:id="rId46"/>
    <p:sldId id="330" r:id="rId47"/>
    <p:sldId id="331" r:id="rId48"/>
    <p:sldId id="332" r:id="rId49"/>
    <p:sldId id="338" r:id="rId50"/>
    <p:sldId id="333" r:id="rId51"/>
    <p:sldId id="334" r:id="rId52"/>
    <p:sldId id="335" r:id="rId53"/>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60"/>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handoutMaster" Target="handoutMasters/handoutMaster1.xml"/><Relationship Id="rId54" Type="http://schemas.openxmlformats.org/officeDocument/2006/relationships/notesMaster" Target="notesMasters/notesMaster1.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205728"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80604020202020204" pitchFamily="34" charset="0"/>
              <a:ea typeface="SimSun"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80604020202020204" pitchFamily="34" charset="0"/>
              <a:ea typeface="SimSun"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806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80604020202020204" pitchFamily="34" charset="0"/>
              <a:ea typeface="SimSun" pitchFamily="2" charset="-122"/>
              <a:cs typeface="+mn-cs"/>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Footer Placeholder 5"/>
          <p:cNvSpPr>
            <a:spLocks noGrp="1"/>
          </p:cNvSpPr>
          <p:nvPr>
            <p:ph type="ftr" sz="quarter" idx="11"/>
          </p:nvPr>
        </p:nvSpPr>
        <p:spPr/>
        <p:txBody>
          <a:bodyPr/>
          <a:lstStyle/>
          <a:p>
            <a:endParaRPr lang="zh-CN" altLang="en-US" dirty="0"/>
          </a:p>
        </p:txBody>
      </p:sp>
      <p:sp>
        <p:nvSpPr>
          <p:cNvPr id="7" name="Slide Number Placeholder 6"/>
          <p:cNvSpPr>
            <a:spLocks noGrp="1"/>
          </p:cNvSpPr>
          <p:nvPr>
            <p:ph type="sldNum" sz="quarter" idx="12"/>
          </p:nvPr>
        </p:nvSpPr>
        <p:spPr/>
        <p:txBody>
          <a:bodyPr/>
          <a:lstStyle/>
          <a:p>
            <a:fld id="{FABC47A4-756D-490B-A52F-7D9E2C9FC05F}" type="slidenum">
              <a:rPr lang="zh-CN" altLang="en-US" smtClean="0"/>
            </a:fld>
            <a:endParaRPr lang="zh-CN" altLang="en-US"/>
          </a:p>
        </p:txBody>
      </p:sp>
      <p:cxnSp>
        <p:nvCxnSpPr>
          <p:cNvPr id="8" name="直接连接符 7" hidden="1"/>
          <p:cNvCxnSpPr/>
          <p:nvPr userDrawn="1"/>
        </p:nvCxnSpPr>
        <p:spPr>
          <a:xfrm>
            <a:off x="742950" y="434340"/>
            <a:ext cx="0" cy="139128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80604020202020204" pitchFamily="34" charset="0"/>
              <a:ea typeface="SimSun"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80604020202020204" pitchFamily="34" charset="0"/>
              <a:ea typeface="SimSun"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806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80604020202020204" pitchFamily="34" charset="0"/>
              <a:ea typeface="SimSun" pitchFamily="2" charset="-122"/>
              <a:cs typeface="+mn-cs"/>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609600" y="274638"/>
            <a:ext cx="10972800" cy="11430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609600" y="1600200"/>
            <a:ext cx="109728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609600" y="6245225"/>
            <a:ext cx="2844800" cy="476250"/>
          </a:xfrm>
          <a:prstGeom prst="rect">
            <a:avLst/>
          </a:prstGeom>
          <a:noFill/>
          <a:ln w="9525">
            <a:noFill/>
          </a:ln>
        </p:spPr>
        <p:txBody>
          <a:bodyPr/>
          <a:lstStyle>
            <a:lvl1pPr>
              <a:defRPr sz="1400"/>
            </a:lvl1pPr>
          </a:lstStyle>
          <a:p>
            <a:fld id="{760FBDFE-C587-4B4C-A407-44438C67B59E}" type="datetimeFigureOut">
              <a:rPr lang="zh-CN" altLang="en-US" smtClean="0"/>
            </a:fld>
            <a:endParaRPr lang="zh-CN" altLang="en-US"/>
          </a:p>
        </p:txBody>
      </p:sp>
      <p:sp>
        <p:nvSpPr>
          <p:cNvPr id="1029" name="Footer Placeholder 1028"/>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zh-CN" altLang="en-US"/>
          </a:p>
        </p:txBody>
      </p:sp>
      <p:sp>
        <p:nvSpPr>
          <p:cNvPr id="1030" name="Slide Number Placeholder 1029"/>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8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Arial" panose="0208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Arial" panose="0208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Arial" panose="0208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Arial" panose="0208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Arial" panose="0208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Arial" panose="0208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Arial" panose="0208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Arial" panose="0208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nSpc>
                <a:spcPct val="140000"/>
              </a:lnSpc>
            </a:pPr>
            <a:r>
              <a:rPr lang="zh-CN" altLang="en-US" b="1">
                <a:solidFill>
                  <a:srgbClr val="FF0000"/>
                </a:solidFill>
              </a:rPr>
              <a:t>Reverse Scaffolding </a:t>
            </a:r>
            <a:r>
              <a:rPr lang="en-US" altLang="zh-CN" b="1">
                <a:solidFill>
                  <a:srgbClr val="FF0000"/>
                </a:solidFill>
              </a:rPr>
              <a:t>and </a:t>
            </a:r>
            <a:r>
              <a:rPr lang="zh-CN" altLang="en-US" b="1">
                <a:solidFill>
                  <a:srgbClr val="FF0000"/>
                </a:solidFill>
              </a:rPr>
              <a:t>Test Case–Driven Learning</a:t>
            </a:r>
            <a:endParaRPr lang="zh-CN" altLang="en-US" b="1">
              <a:solidFill>
                <a:srgbClr val="FF0000"/>
              </a:solidFill>
            </a:endParaRPr>
          </a:p>
        </p:txBody>
      </p:sp>
      <p:sp>
        <p:nvSpPr>
          <p:cNvPr id="5" name="副标题 4"/>
          <p:cNvSpPr>
            <a:spLocks noGrp="1"/>
          </p:cNvSpPr>
          <p:nvPr>
            <p:ph type="subTitle" idx="1"/>
          </p:nvPr>
        </p:nvSpPr>
        <p:spPr>
          <a:xfrm>
            <a:off x="1524000" y="4257993"/>
            <a:ext cx="9144000" cy="1655762"/>
          </a:xfrm>
        </p:spPr>
        <p:txBody>
          <a:bodyPr/>
          <a:lstStyle/>
          <a:p>
            <a:r>
              <a:rPr lang="en-US" altLang="zh-CN" sz="3200" b="1"/>
              <a:t>Dr M Janaki Meena</a:t>
            </a:r>
            <a:endParaRPr lang="en-US" altLang="zh-CN" sz="3200"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93663"/>
            <a:ext cx="10972800" cy="1143000"/>
          </a:xfrm>
        </p:spPr>
        <p:txBody>
          <a:bodyPr/>
          <a:p>
            <a:r>
              <a:rPr lang="en-US">
                <a:solidFill>
                  <a:srgbClr val="FF0000"/>
                </a:solidFill>
              </a:rPr>
              <a:t>Reverse-Engineer the Problem</a:t>
            </a:r>
            <a:endParaRPr lang="en-US">
              <a:solidFill>
                <a:srgbClr val="FF0000"/>
              </a:solidFill>
            </a:endParaRPr>
          </a:p>
        </p:txBody>
      </p:sp>
      <p:sp>
        <p:nvSpPr>
          <p:cNvPr id="3" name="Content Placeholder 2"/>
          <p:cNvSpPr>
            <a:spLocks noGrp="1"/>
          </p:cNvSpPr>
          <p:nvPr>
            <p:ph idx="1"/>
          </p:nvPr>
        </p:nvSpPr>
        <p:spPr>
          <a:xfrm>
            <a:off x="269240" y="1163320"/>
            <a:ext cx="11611610" cy="5608955"/>
          </a:xfrm>
        </p:spPr>
        <p:txBody>
          <a:bodyPr/>
          <a:p>
            <a:pPr>
              <a:lnSpc>
                <a:spcPct val="140000"/>
              </a:lnSpc>
            </a:pPr>
            <a:r>
              <a:rPr lang="en-US">
                <a:solidFill>
                  <a:srgbClr val="002060"/>
                </a:solidFill>
              </a:rPr>
              <a:t>Learners are given executable examples consisting of specific inputs and expected outputs.</a:t>
            </a:r>
            <a:endParaRPr lang="en-US">
              <a:solidFill>
                <a:srgbClr val="002060"/>
              </a:solidFill>
            </a:endParaRPr>
          </a:p>
          <a:p>
            <a:pPr>
              <a:lnSpc>
                <a:spcPct val="140000"/>
              </a:lnSpc>
            </a:pPr>
            <a:r>
              <a:rPr lang="en-US">
                <a:solidFill>
                  <a:srgbClr val="002060"/>
                </a:solidFill>
              </a:rPr>
              <a:t>This provides a concrete foundation for understanding behavior before formal specifications are defined.</a:t>
            </a:r>
            <a:endParaRPr lang="en-US">
              <a:solidFill>
                <a:srgbClr val="002060"/>
              </a:solidFill>
            </a:endParaRPr>
          </a:p>
          <a:p>
            <a:pPr>
              <a:lnSpc>
                <a:spcPct val="140000"/>
              </a:lnSpc>
            </a:pPr>
            <a:endParaRPr lang="en-US">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93663"/>
            <a:ext cx="10972800" cy="1143000"/>
          </a:xfrm>
        </p:spPr>
        <p:txBody>
          <a:bodyPr/>
          <a:p>
            <a:r>
              <a:rPr lang="en-US">
                <a:solidFill>
                  <a:srgbClr val="FF0000"/>
                </a:solidFill>
              </a:rPr>
              <a:t>Staged Levels</a:t>
            </a:r>
            <a:endParaRPr lang="en-US">
              <a:solidFill>
                <a:srgbClr val="FF0000"/>
              </a:solidFill>
            </a:endParaRPr>
          </a:p>
        </p:txBody>
      </p:sp>
      <p:pic>
        <p:nvPicPr>
          <p:cNvPr id="5" name="Picture 4"/>
          <p:cNvPicPr>
            <a:picLocks noChangeAspect="1"/>
          </p:cNvPicPr>
          <p:nvPr/>
        </p:nvPicPr>
        <p:blipFill>
          <a:blip r:embed="rId1"/>
          <a:stretch>
            <a:fillRect/>
          </a:stretch>
        </p:blipFill>
        <p:spPr>
          <a:xfrm>
            <a:off x="377190" y="1969770"/>
            <a:ext cx="5546090" cy="2854325"/>
          </a:xfrm>
          <a:prstGeom prst="rect">
            <a:avLst/>
          </a:prstGeom>
        </p:spPr>
      </p:pic>
      <p:pic>
        <p:nvPicPr>
          <p:cNvPr id="6" name="Picture 5"/>
          <p:cNvPicPr>
            <a:picLocks noChangeAspect="1"/>
          </p:cNvPicPr>
          <p:nvPr/>
        </p:nvPicPr>
        <p:blipFill>
          <a:blip r:embed="rId2"/>
          <a:stretch>
            <a:fillRect/>
          </a:stretch>
        </p:blipFill>
        <p:spPr>
          <a:xfrm>
            <a:off x="6562090" y="2055495"/>
            <a:ext cx="5503545" cy="28327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93663"/>
            <a:ext cx="10972800" cy="1143000"/>
          </a:xfrm>
        </p:spPr>
        <p:txBody>
          <a:bodyPr/>
          <a:p>
            <a:r>
              <a:rPr lang="en-US">
                <a:solidFill>
                  <a:srgbClr val="FF0000"/>
                </a:solidFill>
              </a:rPr>
              <a:t>Inductive Inference</a:t>
            </a:r>
            <a:endParaRPr lang="en-US">
              <a:solidFill>
                <a:srgbClr val="FF0000"/>
              </a:solidFill>
            </a:endParaRPr>
          </a:p>
        </p:txBody>
      </p:sp>
      <p:sp>
        <p:nvSpPr>
          <p:cNvPr id="3" name="Content Placeholder 2"/>
          <p:cNvSpPr>
            <a:spLocks noGrp="1"/>
          </p:cNvSpPr>
          <p:nvPr>
            <p:ph idx="1"/>
          </p:nvPr>
        </p:nvSpPr>
        <p:spPr>
          <a:xfrm>
            <a:off x="269240" y="1163320"/>
            <a:ext cx="11611610" cy="5608955"/>
          </a:xfrm>
        </p:spPr>
        <p:txBody>
          <a:bodyPr/>
          <a:p>
            <a:pPr>
              <a:lnSpc>
                <a:spcPct val="140000"/>
              </a:lnSpc>
            </a:pPr>
            <a:r>
              <a:rPr lang="en-US">
                <a:solidFill>
                  <a:srgbClr val="002060"/>
                </a:solidFill>
              </a:rPr>
              <a:t>Learners must inductively infer a precise specification, write it in their own words, then implement something that satisfies all levels.</a:t>
            </a:r>
            <a:endParaRPr lang="en-US">
              <a:solidFill>
                <a:srgbClr val="002060"/>
              </a:solidFill>
            </a:endParaRPr>
          </a:p>
          <a:p>
            <a:pPr>
              <a:lnSpc>
                <a:spcPct val="140000"/>
              </a:lnSpc>
            </a:pPr>
            <a:r>
              <a:rPr lang="en-US">
                <a:solidFill>
                  <a:srgbClr val="002060"/>
                </a:solidFill>
              </a:rPr>
              <a:t>This process shifts the focus from following instructions to active pattern recognition and mental model construction.</a:t>
            </a:r>
            <a:endParaRPr lang="en-US">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93663"/>
            <a:ext cx="10972800" cy="1143000"/>
          </a:xfrm>
        </p:spPr>
        <p:txBody>
          <a:bodyPr/>
          <a:p>
            <a:r>
              <a:rPr lang="en-US">
                <a:solidFill>
                  <a:srgbClr val="FF0000"/>
                </a:solidFill>
              </a:rPr>
              <a:t>Teaching Pedagogy - Inquiry-Based Learning</a:t>
            </a:r>
            <a:endParaRPr lang="en-US">
              <a:solidFill>
                <a:srgbClr val="FF0000"/>
              </a:solidFill>
            </a:endParaRPr>
          </a:p>
        </p:txBody>
      </p:sp>
      <p:sp>
        <p:nvSpPr>
          <p:cNvPr id="3" name="Content Placeholder 2"/>
          <p:cNvSpPr>
            <a:spLocks noGrp="1"/>
          </p:cNvSpPr>
          <p:nvPr>
            <p:ph idx="1"/>
          </p:nvPr>
        </p:nvSpPr>
        <p:spPr>
          <a:xfrm>
            <a:off x="269240" y="1163320"/>
            <a:ext cx="11611610" cy="5608955"/>
          </a:xfrm>
        </p:spPr>
        <p:txBody>
          <a:bodyPr/>
          <a:p>
            <a:pPr>
              <a:lnSpc>
                <a:spcPct val="140000"/>
              </a:lnSpc>
            </a:pPr>
            <a:r>
              <a:rPr lang="en-US">
                <a:solidFill>
                  <a:srgbClr val="002060"/>
                </a:solidFill>
              </a:rPr>
              <a:t>Learners build mental models by observing patterns in examples rather than memorizing a definition.</a:t>
            </a:r>
            <a:endParaRPr lang="en-US">
              <a:solidFill>
                <a:srgbClr val="002060"/>
              </a:solidFill>
            </a:endParaRPr>
          </a:p>
          <a:p>
            <a:pPr>
              <a:lnSpc>
                <a:spcPct val="140000"/>
              </a:lnSpc>
            </a:pPr>
            <a:r>
              <a:rPr lang="en-US">
                <a:solidFill>
                  <a:srgbClr val="002060"/>
                </a:solidFill>
              </a:rPr>
              <a:t>They must reconcile contradictions when a new level of tests “breaks” their first guess, which mirrors how real requirements evolve.</a:t>
            </a:r>
            <a:endParaRPr lang="en-US">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93663"/>
            <a:ext cx="10972800" cy="1143000"/>
          </a:xfrm>
        </p:spPr>
        <p:txBody>
          <a:bodyPr/>
          <a:p>
            <a:r>
              <a:rPr lang="en-US">
                <a:solidFill>
                  <a:srgbClr val="FF0000"/>
                </a:solidFill>
              </a:rPr>
              <a:t>Scaffolding </a:t>
            </a:r>
            <a:endParaRPr lang="en-US">
              <a:solidFill>
                <a:srgbClr val="FF0000"/>
              </a:solidFill>
            </a:endParaRPr>
          </a:p>
        </p:txBody>
      </p:sp>
      <p:sp>
        <p:nvSpPr>
          <p:cNvPr id="3" name="Content Placeholder 2"/>
          <p:cNvSpPr>
            <a:spLocks noGrp="1"/>
          </p:cNvSpPr>
          <p:nvPr>
            <p:ph idx="1"/>
          </p:nvPr>
        </p:nvSpPr>
        <p:spPr>
          <a:xfrm>
            <a:off x="269240" y="1163320"/>
            <a:ext cx="11611610" cy="5608955"/>
          </a:xfrm>
        </p:spPr>
        <p:txBody>
          <a:bodyPr/>
          <a:p>
            <a:pPr>
              <a:lnSpc>
                <a:spcPct val="140000"/>
              </a:lnSpc>
            </a:pPr>
            <a:r>
              <a:rPr lang="en-US">
                <a:solidFill>
                  <a:srgbClr val="002060"/>
                </a:solidFill>
              </a:rPr>
              <a:t>Leveled tests are deliberate scaffolds: each level stays within the learner’s zone of proximal development.</a:t>
            </a:r>
            <a:endParaRPr lang="en-US">
              <a:solidFill>
                <a:srgbClr val="002060"/>
              </a:solidFill>
            </a:endParaRPr>
          </a:p>
          <a:p>
            <a:pPr>
              <a:lnSpc>
                <a:spcPct val="140000"/>
              </a:lnSpc>
            </a:pPr>
            <a:r>
              <a:rPr lang="en-US">
                <a:solidFill>
                  <a:srgbClr val="002060"/>
                </a:solidFill>
              </a:rPr>
              <a:t>Early levels make success likely; later levels push abstraction (e.g., from single-digit to multi-digit counts).</a:t>
            </a:r>
            <a:endParaRPr lang="en-US">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93663"/>
            <a:ext cx="10972800" cy="1143000"/>
          </a:xfrm>
        </p:spPr>
        <p:txBody>
          <a:bodyPr/>
          <a:p>
            <a:r>
              <a:rPr lang="en-US">
                <a:solidFill>
                  <a:srgbClr val="FF0000"/>
                </a:solidFill>
              </a:rPr>
              <a:t>The Learning Path</a:t>
            </a:r>
            <a:endParaRPr lang="en-US">
              <a:solidFill>
                <a:srgbClr val="FF0000"/>
              </a:solidFill>
            </a:endParaRPr>
          </a:p>
        </p:txBody>
      </p:sp>
      <p:pic>
        <p:nvPicPr>
          <p:cNvPr id="5" name="Picture 4"/>
          <p:cNvPicPr>
            <a:picLocks noChangeAspect="1"/>
          </p:cNvPicPr>
          <p:nvPr/>
        </p:nvPicPr>
        <p:blipFill>
          <a:blip r:embed="rId1"/>
          <a:stretch>
            <a:fillRect/>
          </a:stretch>
        </p:blipFill>
        <p:spPr>
          <a:xfrm>
            <a:off x="98425" y="1372870"/>
            <a:ext cx="3763645" cy="3845560"/>
          </a:xfrm>
          <a:prstGeom prst="rect">
            <a:avLst/>
          </a:prstGeom>
        </p:spPr>
      </p:pic>
      <p:pic>
        <p:nvPicPr>
          <p:cNvPr id="6" name="Picture 5"/>
          <p:cNvPicPr>
            <a:picLocks noChangeAspect="1"/>
          </p:cNvPicPr>
          <p:nvPr/>
        </p:nvPicPr>
        <p:blipFill>
          <a:blip r:embed="rId2"/>
          <a:stretch>
            <a:fillRect/>
          </a:stretch>
        </p:blipFill>
        <p:spPr>
          <a:xfrm>
            <a:off x="4297680" y="1372870"/>
            <a:ext cx="3896995" cy="3981450"/>
          </a:xfrm>
          <a:prstGeom prst="rect">
            <a:avLst/>
          </a:prstGeom>
        </p:spPr>
      </p:pic>
      <p:pic>
        <p:nvPicPr>
          <p:cNvPr id="7" name="Picture 6"/>
          <p:cNvPicPr>
            <a:picLocks noChangeAspect="1"/>
          </p:cNvPicPr>
          <p:nvPr/>
        </p:nvPicPr>
        <p:blipFill>
          <a:blip r:embed="rId3"/>
          <a:stretch>
            <a:fillRect/>
          </a:stretch>
        </p:blipFill>
        <p:spPr>
          <a:xfrm>
            <a:off x="8272780" y="1602105"/>
            <a:ext cx="3576320" cy="365379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93663"/>
            <a:ext cx="10972800" cy="1143000"/>
          </a:xfrm>
        </p:spPr>
        <p:txBody>
          <a:bodyPr/>
          <a:p>
            <a:r>
              <a:rPr lang="en-US">
                <a:solidFill>
                  <a:srgbClr val="FF0000"/>
                </a:solidFill>
              </a:rPr>
              <a:t>Mirroring Real Software</a:t>
            </a:r>
            <a:endParaRPr lang="en-US">
              <a:solidFill>
                <a:srgbClr val="FF0000"/>
              </a:solidFill>
            </a:endParaRPr>
          </a:p>
        </p:txBody>
      </p:sp>
      <p:sp>
        <p:nvSpPr>
          <p:cNvPr id="3" name="Content Placeholder 2"/>
          <p:cNvSpPr>
            <a:spLocks noGrp="1"/>
          </p:cNvSpPr>
          <p:nvPr>
            <p:ph idx="1"/>
          </p:nvPr>
        </p:nvSpPr>
        <p:spPr>
          <a:xfrm>
            <a:off x="269240" y="1163320"/>
            <a:ext cx="11611610" cy="5608955"/>
          </a:xfrm>
        </p:spPr>
        <p:txBody>
          <a:bodyPr/>
          <a:p>
            <a:pPr>
              <a:lnSpc>
                <a:spcPct val="190000"/>
              </a:lnSpc>
            </a:pPr>
            <a:r>
              <a:rPr lang="en-US" sz="4000">
                <a:solidFill>
                  <a:srgbClr val="002060"/>
                </a:solidFill>
              </a:rPr>
              <a:t>This mirrors how real software is often specified—through examples and evolving constraints—and strengthens both precise reasoning and test-driven habits.</a:t>
            </a:r>
            <a:endParaRPr lang="en-US" sz="40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93663"/>
            <a:ext cx="10972800" cy="1143000"/>
          </a:xfrm>
        </p:spPr>
        <p:txBody>
          <a:bodyPr/>
          <a:p>
            <a:r>
              <a:rPr lang="en-US">
                <a:solidFill>
                  <a:srgbClr val="FF0000"/>
                </a:solidFill>
              </a:rPr>
              <a:t>Fundamental</a:t>
            </a:r>
            <a:endParaRPr lang="en-US">
              <a:solidFill>
                <a:srgbClr val="FF0000"/>
              </a:solidFill>
            </a:endParaRPr>
          </a:p>
        </p:txBody>
      </p:sp>
      <p:sp>
        <p:nvSpPr>
          <p:cNvPr id="3" name="Content Placeholder 2"/>
          <p:cNvSpPr>
            <a:spLocks noGrp="1"/>
          </p:cNvSpPr>
          <p:nvPr>
            <p:ph idx="1"/>
          </p:nvPr>
        </p:nvSpPr>
        <p:spPr>
          <a:xfrm>
            <a:off x="269240" y="1163320"/>
            <a:ext cx="11611610" cy="5608955"/>
          </a:xfrm>
        </p:spPr>
        <p:txBody>
          <a:bodyPr/>
          <a:p>
            <a:pPr>
              <a:lnSpc>
                <a:spcPct val="150000"/>
              </a:lnSpc>
            </a:pPr>
            <a:r>
              <a:rPr lang="en-US" sz="4000">
                <a:solidFill>
                  <a:srgbClr val="002060"/>
                </a:solidFill>
              </a:rPr>
              <a:t>Give an arithmetic expression and the resultant value - Ask students to determine the precedence and associativity</a:t>
            </a:r>
            <a:endParaRPr lang="en-US" sz="40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Problem 1</a:t>
            </a:r>
            <a:endParaRPr lang="en-US">
              <a:solidFill>
                <a:srgbClr val="FF0000"/>
              </a:solidFill>
            </a:endParaRPr>
          </a:p>
        </p:txBody>
      </p:sp>
      <p:sp>
        <p:nvSpPr>
          <p:cNvPr id="3" name="Content Placeholder 2"/>
          <p:cNvSpPr>
            <a:spLocks noGrp="1"/>
          </p:cNvSpPr>
          <p:nvPr>
            <p:ph idx="1"/>
          </p:nvPr>
        </p:nvSpPr>
        <p:spPr>
          <a:xfrm>
            <a:off x="290195" y="980440"/>
            <a:ext cx="11611610" cy="5608955"/>
          </a:xfrm>
        </p:spPr>
        <p:txBody>
          <a:bodyPr/>
          <a:p>
            <a:pPr>
              <a:lnSpc>
                <a:spcPct val="160000"/>
              </a:lnSpc>
            </a:pPr>
            <a:r>
              <a:rPr lang="en-US" sz="3600">
                <a:solidFill>
                  <a:srgbClr val="002060"/>
                </a:solidFill>
              </a:rPr>
              <a:t>You are designing a system that processes event logs generated by two sensors in a factory. Based on the given test cases, identify the policy used to process and combine these logs.</a:t>
            </a:r>
            <a:endParaRPr lang="en-US" sz="36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Problem 1</a:t>
            </a:r>
            <a:endParaRPr lang="en-US">
              <a:solidFill>
                <a:srgbClr val="FF0000"/>
              </a:solidFill>
            </a:endParaRPr>
          </a:p>
        </p:txBody>
      </p:sp>
      <p:sp>
        <p:nvSpPr>
          <p:cNvPr id="3" name="Content Placeholder 2"/>
          <p:cNvSpPr>
            <a:spLocks noGrp="1"/>
          </p:cNvSpPr>
          <p:nvPr>
            <p:ph idx="1"/>
          </p:nvPr>
        </p:nvSpPr>
        <p:spPr>
          <a:xfrm>
            <a:off x="290195" y="980440"/>
            <a:ext cx="11611610" cy="5608955"/>
          </a:xfrm>
        </p:spPr>
        <p:txBody>
          <a:bodyPr/>
          <a:p>
            <a:pPr>
              <a:lnSpc>
                <a:spcPct val="160000"/>
              </a:lnSpc>
            </a:pPr>
            <a:r>
              <a:rPr lang="en-US" sz="3600" b="1">
                <a:solidFill>
                  <a:srgbClr val="002060"/>
                </a:solidFill>
              </a:rPr>
              <a:t>Test case 1</a:t>
            </a:r>
            <a:endParaRPr lang="en-US" sz="3600">
              <a:solidFill>
                <a:srgbClr val="002060"/>
              </a:solidFill>
            </a:endParaRPr>
          </a:p>
          <a:p>
            <a:pPr marL="0" indent="0">
              <a:lnSpc>
                <a:spcPct val="160000"/>
              </a:lnSpc>
              <a:buNone/>
            </a:pPr>
            <a:r>
              <a:rPr lang="en-US" sz="3600">
                <a:solidFill>
                  <a:srgbClr val="002060"/>
                </a:solidFill>
              </a:rPr>
              <a:t>[3,1], [7,4]</a:t>
            </a:r>
            <a:endParaRPr lang="en-US" sz="3600">
              <a:solidFill>
                <a:srgbClr val="002060"/>
              </a:solidFill>
            </a:endParaRPr>
          </a:p>
          <a:p>
            <a:pPr marL="0" indent="0">
              <a:lnSpc>
                <a:spcPct val="160000"/>
              </a:lnSpc>
              <a:buNone/>
            </a:pPr>
            <a:r>
              <a:rPr lang="en-US" sz="3600">
                <a:solidFill>
                  <a:srgbClr val="002060"/>
                </a:solidFill>
              </a:rPr>
              <a:t>[1,3,4,7]</a:t>
            </a:r>
            <a:endParaRPr lang="en-US" sz="3600">
              <a:solidFill>
                <a:srgbClr val="002060"/>
              </a:solidFill>
            </a:endParaRPr>
          </a:p>
          <a:p>
            <a:pPr marL="0" indent="0">
              <a:lnSpc>
                <a:spcPct val="140000"/>
              </a:lnSpc>
              <a:buNone/>
            </a:pPr>
            <a:endParaRPr lang="en-US" sz="36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Problem 1</a:t>
            </a:r>
            <a:endParaRPr lang="en-US">
              <a:solidFill>
                <a:srgbClr val="FF0000"/>
              </a:solidFill>
            </a:endParaRPr>
          </a:p>
        </p:txBody>
      </p:sp>
      <p:sp>
        <p:nvSpPr>
          <p:cNvPr id="3" name="Content Placeholder 2"/>
          <p:cNvSpPr>
            <a:spLocks noGrp="1"/>
          </p:cNvSpPr>
          <p:nvPr>
            <p:ph idx="1"/>
          </p:nvPr>
        </p:nvSpPr>
        <p:spPr>
          <a:xfrm>
            <a:off x="290195" y="980440"/>
            <a:ext cx="11611610" cy="5608955"/>
          </a:xfrm>
        </p:spPr>
        <p:txBody>
          <a:bodyPr/>
          <a:p>
            <a:pPr>
              <a:lnSpc>
                <a:spcPct val="150000"/>
              </a:lnSpc>
            </a:pPr>
            <a:r>
              <a:rPr lang="en-US" sz="3600" b="1">
                <a:solidFill>
                  <a:srgbClr val="002060"/>
                </a:solidFill>
                <a:sym typeface="+mn-ea"/>
              </a:rPr>
              <a:t>Test case 2</a:t>
            </a:r>
            <a:endParaRPr lang="en-US" sz="3600" b="1">
              <a:solidFill>
                <a:srgbClr val="002060"/>
              </a:solidFill>
              <a:sym typeface="+mn-ea"/>
            </a:endParaRPr>
          </a:p>
          <a:p>
            <a:pPr>
              <a:lnSpc>
                <a:spcPct val="150000"/>
              </a:lnSpc>
            </a:pPr>
            <a:r>
              <a:rPr lang="en-US" sz="3600">
                <a:solidFill>
                  <a:srgbClr val="002060"/>
                </a:solidFill>
                <a:sym typeface="+mn-ea"/>
              </a:rPr>
              <a:t>[4,1], [7,4]</a:t>
            </a:r>
            <a:endParaRPr lang="en-US" sz="3600">
              <a:solidFill>
                <a:srgbClr val="002060"/>
              </a:solidFill>
              <a:sym typeface="+mn-ea"/>
            </a:endParaRPr>
          </a:p>
          <a:p>
            <a:pPr>
              <a:lnSpc>
                <a:spcPct val="150000"/>
              </a:lnSpc>
            </a:pPr>
            <a:r>
              <a:rPr lang="en-US" sz="3600">
                <a:solidFill>
                  <a:srgbClr val="002060"/>
                </a:solidFill>
                <a:sym typeface="+mn-ea"/>
              </a:rPr>
              <a:t>[1, 4, 7]</a:t>
            </a:r>
            <a:endParaRPr lang="en-US" sz="3600">
              <a:solidFill>
                <a:srgbClr val="002060"/>
              </a:solidFill>
              <a:sym typeface="+mn-ea"/>
            </a:endParaRPr>
          </a:p>
          <a:p>
            <a:pPr>
              <a:lnSpc>
                <a:spcPct val="140000"/>
              </a:lnSpc>
            </a:pPr>
            <a:endParaRPr lang="en-US" sz="3600">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Problem 1</a:t>
            </a:r>
            <a:endParaRPr lang="en-US">
              <a:solidFill>
                <a:srgbClr val="FF0000"/>
              </a:solidFill>
            </a:endParaRPr>
          </a:p>
        </p:txBody>
      </p:sp>
      <p:sp>
        <p:nvSpPr>
          <p:cNvPr id="3" name="Content Placeholder 2"/>
          <p:cNvSpPr>
            <a:spLocks noGrp="1"/>
          </p:cNvSpPr>
          <p:nvPr>
            <p:ph idx="1"/>
          </p:nvPr>
        </p:nvSpPr>
        <p:spPr>
          <a:xfrm>
            <a:off x="290195" y="980440"/>
            <a:ext cx="11611610" cy="5608955"/>
          </a:xfrm>
        </p:spPr>
        <p:txBody>
          <a:bodyPr/>
          <a:p>
            <a:pPr>
              <a:lnSpc>
                <a:spcPct val="140000"/>
              </a:lnSpc>
            </a:pPr>
            <a:r>
              <a:rPr lang="en-US" sz="3600" b="1">
                <a:solidFill>
                  <a:srgbClr val="002060"/>
                </a:solidFill>
                <a:sym typeface="+mn-ea"/>
              </a:rPr>
              <a:t>Test case 3</a:t>
            </a:r>
            <a:endParaRPr lang="en-US" sz="3600" b="1">
              <a:solidFill>
                <a:srgbClr val="002060"/>
              </a:solidFill>
              <a:sym typeface="+mn-ea"/>
            </a:endParaRPr>
          </a:p>
          <a:p>
            <a:pPr>
              <a:lnSpc>
                <a:spcPct val="140000"/>
              </a:lnSpc>
            </a:pPr>
            <a:r>
              <a:rPr lang="en-US" sz="3600">
                <a:solidFill>
                  <a:srgbClr val="002060"/>
                </a:solidFill>
                <a:sym typeface="+mn-ea"/>
              </a:rPr>
              <a:t>[4,2], [2,4]</a:t>
            </a:r>
            <a:endParaRPr lang="en-US" sz="3600">
              <a:solidFill>
                <a:srgbClr val="002060"/>
              </a:solidFill>
              <a:sym typeface="+mn-ea"/>
            </a:endParaRPr>
          </a:p>
          <a:p>
            <a:pPr>
              <a:lnSpc>
                <a:spcPct val="140000"/>
              </a:lnSpc>
            </a:pPr>
            <a:r>
              <a:rPr lang="en-US" sz="3600">
                <a:solidFill>
                  <a:srgbClr val="002060"/>
                </a:solidFill>
                <a:sym typeface="+mn-ea"/>
              </a:rPr>
              <a:t>[2,4]</a:t>
            </a:r>
            <a:endParaRPr lang="en-US" sz="3600">
              <a:solidFill>
                <a:srgbClr val="002060"/>
              </a:solidFill>
              <a:sym typeface="+mn-ea"/>
            </a:endParaRPr>
          </a:p>
          <a:p>
            <a:pPr>
              <a:lnSpc>
                <a:spcPct val="140000"/>
              </a:lnSpc>
            </a:pPr>
            <a:endParaRPr lang="en-US" sz="3600">
              <a:solidFill>
                <a:srgbClr val="002060"/>
              </a:solidFill>
              <a:sym typeface="+mn-ea"/>
            </a:endParaRPr>
          </a:p>
          <a:p>
            <a:pPr>
              <a:lnSpc>
                <a:spcPct val="140000"/>
              </a:lnSpc>
            </a:pPr>
            <a:endParaRPr lang="en-US" sz="3600">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Problem 1</a:t>
            </a:r>
            <a:endParaRPr lang="en-US">
              <a:solidFill>
                <a:srgbClr val="FF0000"/>
              </a:solidFill>
            </a:endParaRPr>
          </a:p>
        </p:txBody>
      </p:sp>
      <p:sp>
        <p:nvSpPr>
          <p:cNvPr id="3" name="Content Placeholder 2"/>
          <p:cNvSpPr>
            <a:spLocks noGrp="1"/>
          </p:cNvSpPr>
          <p:nvPr>
            <p:ph idx="1"/>
          </p:nvPr>
        </p:nvSpPr>
        <p:spPr>
          <a:xfrm>
            <a:off x="290195" y="980440"/>
            <a:ext cx="11611610" cy="5608955"/>
          </a:xfrm>
        </p:spPr>
        <p:txBody>
          <a:bodyPr/>
          <a:p>
            <a:pPr marL="0" indent="0">
              <a:lnSpc>
                <a:spcPct val="130000"/>
              </a:lnSpc>
              <a:buNone/>
            </a:pPr>
            <a:r>
              <a:rPr lang="en-US" sz="3600" b="1">
                <a:solidFill>
                  <a:srgbClr val="002060"/>
                </a:solidFill>
                <a:sym typeface="+mn-ea"/>
              </a:rPr>
              <a:t>Test case 4</a:t>
            </a:r>
            <a:endParaRPr lang="en-US" sz="3600" b="1">
              <a:solidFill>
                <a:srgbClr val="002060"/>
              </a:solidFill>
              <a:sym typeface="+mn-ea"/>
            </a:endParaRPr>
          </a:p>
          <a:p>
            <a:pPr>
              <a:lnSpc>
                <a:spcPct val="130000"/>
              </a:lnSpc>
            </a:pPr>
            <a:r>
              <a:rPr lang="en-US" sz="3600">
                <a:solidFill>
                  <a:srgbClr val="002060"/>
                </a:solidFill>
                <a:sym typeface="+mn-ea"/>
              </a:rPr>
              <a:t>[4,2,1], [7,4,5]</a:t>
            </a:r>
            <a:endParaRPr lang="en-US" sz="3600">
              <a:solidFill>
                <a:srgbClr val="002060"/>
              </a:solidFill>
              <a:sym typeface="+mn-ea"/>
            </a:endParaRPr>
          </a:p>
          <a:p>
            <a:pPr>
              <a:lnSpc>
                <a:spcPct val="130000"/>
              </a:lnSpc>
            </a:pPr>
            <a:r>
              <a:rPr lang="en-US" sz="3600">
                <a:solidFill>
                  <a:srgbClr val="002060"/>
                </a:solidFill>
                <a:sym typeface="+mn-ea"/>
              </a:rPr>
              <a:t>[1, 2, 4, 5, 7]</a:t>
            </a:r>
            <a:endParaRPr lang="en-US" sz="3600">
              <a:solidFill>
                <a:srgbClr val="002060"/>
              </a:solidFill>
              <a:sym typeface="+mn-ea"/>
            </a:endParaRPr>
          </a:p>
          <a:p>
            <a:pPr>
              <a:lnSpc>
                <a:spcPct val="140000"/>
              </a:lnSpc>
            </a:pPr>
            <a:endParaRPr lang="en-US" sz="3600">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Problem 1</a:t>
            </a:r>
            <a:endParaRPr lang="en-US">
              <a:solidFill>
                <a:srgbClr val="FF0000"/>
              </a:solidFill>
            </a:endParaRPr>
          </a:p>
        </p:txBody>
      </p:sp>
      <p:sp>
        <p:nvSpPr>
          <p:cNvPr id="3" name="Content Placeholder 2"/>
          <p:cNvSpPr>
            <a:spLocks noGrp="1"/>
          </p:cNvSpPr>
          <p:nvPr>
            <p:ph idx="1"/>
          </p:nvPr>
        </p:nvSpPr>
        <p:spPr>
          <a:xfrm>
            <a:off x="290195" y="980440"/>
            <a:ext cx="11611610" cy="5608955"/>
          </a:xfrm>
        </p:spPr>
        <p:txBody>
          <a:bodyPr/>
          <a:p>
            <a:pPr marL="0" indent="0">
              <a:lnSpc>
                <a:spcPct val="130000"/>
              </a:lnSpc>
              <a:buNone/>
            </a:pPr>
            <a:r>
              <a:rPr lang="en-US" sz="4000" b="1">
                <a:solidFill>
                  <a:srgbClr val="002060"/>
                </a:solidFill>
                <a:sym typeface="+mn-ea"/>
              </a:rPr>
              <a:t>Test case 5</a:t>
            </a:r>
            <a:endParaRPr lang="en-US" sz="4000" b="1">
              <a:solidFill>
                <a:srgbClr val="002060"/>
              </a:solidFill>
              <a:sym typeface="+mn-ea"/>
            </a:endParaRPr>
          </a:p>
          <a:p>
            <a:pPr>
              <a:lnSpc>
                <a:spcPct val="130000"/>
              </a:lnSpc>
            </a:pPr>
            <a:r>
              <a:rPr lang="en-US" sz="4000">
                <a:solidFill>
                  <a:srgbClr val="002060"/>
                </a:solidFill>
                <a:sym typeface="+mn-ea"/>
              </a:rPr>
              <a:t>[3,1], [7,2]</a:t>
            </a:r>
            <a:endParaRPr lang="en-US" sz="4000">
              <a:solidFill>
                <a:srgbClr val="002060"/>
              </a:solidFill>
              <a:sym typeface="+mn-ea"/>
            </a:endParaRPr>
          </a:p>
          <a:p>
            <a:pPr>
              <a:lnSpc>
                <a:spcPct val="130000"/>
              </a:lnSpc>
            </a:pPr>
            <a:r>
              <a:rPr lang="en-US" sz="4000">
                <a:solidFill>
                  <a:srgbClr val="002060"/>
                </a:solidFill>
                <a:sym typeface="+mn-ea"/>
              </a:rPr>
              <a:t>[1,2,3,7]</a:t>
            </a:r>
            <a:endParaRPr lang="en-US" sz="4000">
              <a:solidFill>
                <a:srgbClr val="002060"/>
              </a:solidFill>
            </a:endParaRPr>
          </a:p>
          <a:p>
            <a:pPr>
              <a:lnSpc>
                <a:spcPct val="140000"/>
              </a:lnSpc>
            </a:pPr>
            <a:endParaRPr lang="en-US" sz="40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Problem 2</a:t>
            </a:r>
            <a:endParaRPr lang="en-US">
              <a:solidFill>
                <a:srgbClr val="FF0000"/>
              </a:solidFill>
            </a:endParaRPr>
          </a:p>
        </p:txBody>
      </p:sp>
      <p:sp>
        <p:nvSpPr>
          <p:cNvPr id="3" name="Content Placeholder 2"/>
          <p:cNvSpPr>
            <a:spLocks noGrp="1"/>
          </p:cNvSpPr>
          <p:nvPr>
            <p:ph idx="1"/>
          </p:nvPr>
        </p:nvSpPr>
        <p:spPr>
          <a:xfrm>
            <a:off x="290195" y="980440"/>
            <a:ext cx="11611610" cy="5608955"/>
          </a:xfrm>
        </p:spPr>
        <p:txBody>
          <a:bodyPr/>
          <a:p>
            <a:pPr>
              <a:lnSpc>
                <a:spcPct val="130000"/>
              </a:lnSpc>
            </a:pPr>
            <a:r>
              <a:rPr lang="en-US" sz="4400">
                <a:solidFill>
                  <a:srgbClr val="002060"/>
                </a:solidFill>
              </a:rPr>
              <a:t>The company has imposed some additional constraints on the logs recieved. This is how the new system works</a:t>
            </a:r>
            <a:endParaRPr lang="en-US" sz="44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93663"/>
            <a:ext cx="10972800" cy="1143000"/>
          </a:xfrm>
        </p:spPr>
        <p:txBody>
          <a:bodyPr/>
          <a:p>
            <a:r>
              <a:rPr lang="en-US">
                <a:solidFill>
                  <a:srgbClr val="FF0000"/>
                </a:solidFill>
              </a:rPr>
              <a:t>Problem 2</a:t>
            </a:r>
            <a:endParaRPr lang="en-US">
              <a:solidFill>
                <a:srgbClr val="FF0000"/>
              </a:solidFill>
            </a:endParaRPr>
          </a:p>
        </p:txBody>
      </p:sp>
      <p:sp>
        <p:nvSpPr>
          <p:cNvPr id="3" name="Content Placeholder 2"/>
          <p:cNvSpPr>
            <a:spLocks noGrp="1"/>
          </p:cNvSpPr>
          <p:nvPr>
            <p:ph idx="1"/>
          </p:nvPr>
        </p:nvSpPr>
        <p:spPr>
          <a:xfrm>
            <a:off x="269240" y="1163320"/>
            <a:ext cx="11611610" cy="5608955"/>
          </a:xfrm>
        </p:spPr>
        <p:txBody>
          <a:bodyPr/>
          <a:p>
            <a:pPr>
              <a:lnSpc>
                <a:spcPct val="140000"/>
              </a:lnSpc>
            </a:pPr>
            <a:r>
              <a:rPr lang="en-US" sz="4000" b="1">
                <a:solidFill>
                  <a:srgbClr val="002060"/>
                </a:solidFill>
              </a:rPr>
              <a:t>Test case 1</a:t>
            </a:r>
            <a:endParaRPr lang="en-US" sz="4000">
              <a:solidFill>
                <a:srgbClr val="002060"/>
              </a:solidFill>
            </a:endParaRPr>
          </a:p>
          <a:p>
            <a:pPr marL="0" indent="0">
              <a:lnSpc>
                <a:spcPct val="140000"/>
              </a:lnSpc>
              <a:buNone/>
            </a:pPr>
            <a:r>
              <a:rPr lang="en-US" sz="4000">
                <a:solidFill>
                  <a:srgbClr val="002060"/>
                </a:solidFill>
              </a:rPr>
              <a:t>[3,1], [7,4]</a:t>
            </a:r>
            <a:endParaRPr lang="en-US" sz="4000">
              <a:solidFill>
                <a:srgbClr val="002060"/>
              </a:solidFill>
            </a:endParaRPr>
          </a:p>
          <a:p>
            <a:pPr marL="0" indent="0">
              <a:lnSpc>
                <a:spcPct val="140000"/>
              </a:lnSpc>
              <a:buNone/>
            </a:pPr>
            <a:r>
              <a:rPr lang="en-US" sz="4000">
                <a:solidFill>
                  <a:srgbClr val="002060"/>
                </a:solidFill>
              </a:rPr>
              <a:t>[1,3,4,7]</a:t>
            </a:r>
            <a:endParaRPr lang="en-US" sz="4000">
              <a:solidFill>
                <a:srgbClr val="002060"/>
              </a:solidFill>
            </a:endParaRPr>
          </a:p>
          <a:p>
            <a:pPr>
              <a:lnSpc>
                <a:spcPct val="140000"/>
              </a:lnSpc>
            </a:pPr>
            <a:endParaRPr lang="en-US" sz="4000">
              <a:solidFill>
                <a:srgbClr val="002060"/>
              </a:solidFill>
            </a:endParaRPr>
          </a:p>
          <a:p>
            <a:pPr>
              <a:lnSpc>
                <a:spcPct val="140000"/>
              </a:lnSpc>
            </a:pPr>
            <a:endParaRPr lang="en-US" sz="40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93663"/>
            <a:ext cx="10972800" cy="1143000"/>
          </a:xfrm>
        </p:spPr>
        <p:txBody>
          <a:bodyPr/>
          <a:p>
            <a:r>
              <a:rPr lang="en-US">
                <a:solidFill>
                  <a:srgbClr val="FF0000"/>
                </a:solidFill>
              </a:rPr>
              <a:t>Problem 2</a:t>
            </a:r>
            <a:endParaRPr lang="en-US">
              <a:solidFill>
                <a:srgbClr val="FF0000"/>
              </a:solidFill>
            </a:endParaRPr>
          </a:p>
        </p:txBody>
      </p:sp>
      <p:sp>
        <p:nvSpPr>
          <p:cNvPr id="3" name="Content Placeholder 2"/>
          <p:cNvSpPr>
            <a:spLocks noGrp="1"/>
          </p:cNvSpPr>
          <p:nvPr>
            <p:ph idx="1"/>
          </p:nvPr>
        </p:nvSpPr>
        <p:spPr>
          <a:xfrm>
            <a:off x="269240" y="1163320"/>
            <a:ext cx="11611610" cy="5608955"/>
          </a:xfrm>
        </p:spPr>
        <p:txBody>
          <a:bodyPr/>
          <a:p>
            <a:pPr>
              <a:lnSpc>
                <a:spcPct val="150000"/>
              </a:lnSpc>
            </a:pPr>
            <a:r>
              <a:rPr lang="en-US" sz="3600" b="1">
                <a:solidFill>
                  <a:srgbClr val="002060"/>
                </a:solidFill>
                <a:sym typeface="+mn-ea"/>
              </a:rPr>
              <a:t>Test case 2</a:t>
            </a:r>
            <a:endParaRPr lang="en-US" sz="3600" b="1">
              <a:solidFill>
                <a:srgbClr val="002060"/>
              </a:solidFill>
              <a:sym typeface="+mn-ea"/>
            </a:endParaRPr>
          </a:p>
          <a:p>
            <a:pPr>
              <a:lnSpc>
                <a:spcPct val="150000"/>
              </a:lnSpc>
            </a:pPr>
            <a:r>
              <a:rPr lang="en-US" sz="3600">
                <a:solidFill>
                  <a:srgbClr val="002060"/>
                </a:solidFill>
                <a:sym typeface="+mn-ea"/>
              </a:rPr>
              <a:t>[4,1], [7,4]</a:t>
            </a:r>
            <a:endParaRPr lang="en-US" sz="3600">
              <a:solidFill>
                <a:srgbClr val="002060"/>
              </a:solidFill>
              <a:sym typeface="+mn-ea"/>
            </a:endParaRPr>
          </a:p>
          <a:p>
            <a:pPr>
              <a:lnSpc>
                <a:spcPct val="150000"/>
              </a:lnSpc>
            </a:pPr>
            <a:r>
              <a:rPr lang="en-US" sz="3600">
                <a:solidFill>
                  <a:srgbClr val="002060"/>
                </a:solidFill>
                <a:sym typeface="+mn-ea"/>
              </a:rPr>
              <a:t>[1, 4, 7]</a:t>
            </a:r>
            <a:endParaRPr lang="en-US" sz="3600">
              <a:solidFill>
                <a:srgbClr val="002060"/>
              </a:solidFill>
              <a:sym typeface="+mn-ea"/>
            </a:endParaRPr>
          </a:p>
          <a:p>
            <a:pPr>
              <a:lnSpc>
                <a:spcPct val="140000"/>
              </a:lnSpc>
            </a:pPr>
            <a:endParaRPr lang="en-US" sz="3600">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Problem 2</a:t>
            </a:r>
            <a:endParaRPr lang="en-US">
              <a:solidFill>
                <a:srgbClr val="FF0000"/>
              </a:solidFill>
            </a:endParaRPr>
          </a:p>
        </p:txBody>
      </p:sp>
      <p:sp>
        <p:nvSpPr>
          <p:cNvPr id="3" name="Content Placeholder 2"/>
          <p:cNvSpPr>
            <a:spLocks noGrp="1"/>
          </p:cNvSpPr>
          <p:nvPr>
            <p:ph idx="1"/>
          </p:nvPr>
        </p:nvSpPr>
        <p:spPr>
          <a:xfrm>
            <a:off x="290195" y="980440"/>
            <a:ext cx="11611610" cy="5608955"/>
          </a:xfrm>
        </p:spPr>
        <p:txBody>
          <a:bodyPr/>
          <a:p>
            <a:pPr>
              <a:lnSpc>
                <a:spcPct val="140000"/>
              </a:lnSpc>
            </a:pPr>
            <a:r>
              <a:rPr lang="en-US" sz="3600" b="1">
                <a:solidFill>
                  <a:srgbClr val="002060"/>
                </a:solidFill>
                <a:sym typeface="+mn-ea"/>
              </a:rPr>
              <a:t>Test case 3</a:t>
            </a:r>
            <a:endParaRPr lang="en-US" sz="3600" b="1">
              <a:solidFill>
                <a:srgbClr val="002060"/>
              </a:solidFill>
              <a:sym typeface="+mn-ea"/>
            </a:endParaRPr>
          </a:p>
          <a:p>
            <a:pPr>
              <a:lnSpc>
                <a:spcPct val="140000"/>
              </a:lnSpc>
            </a:pPr>
            <a:r>
              <a:rPr lang="en-US" sz="3600">
                <a:solidFill>
                  <a:srgbClr val="002060"/>
                </a:solidFill>
                <a:sym typeface="+mn-ea"/>
              </a:rPr>
              <a:t>[4,2], [2,4]</a:t>
            </a:r>
            <a:endParaRPr lang="en-US" sz="3600">
              <a:solidFill>
                <a:srgbClr val="002060"/>
              </a:solidFill>
              <a:sym typeface="+mn-ea"/>
            </a:endParaRPr>
          </a:p>
          <a:p>
            <a:pPr>
              <a:lnSpc>
                <a:spcPct val="140000"/>
              </a:lnSpc>
            </a:pPr>
            <a:r>
              <a:rPr lang="en-US" sz="3600">
                <a:solidFill>
                  <a:srgbClr val="002060"/>
                </a:solidFill>
                <a:sym typeface="+mn-ea"/>
              </a:rPr>
              <a:t>[2,4]</a:t>
            </a:r>
            <a:endParaRPr lang="en-US" sz="3600">
              <a:solidFill>
                <a:srgbClr val="002060"/>
              </a:solidFill>
              <a:sym typeface="+mn-ea"/>
            </a:endParaRPr>
          </a:p>
          <a:p>
            <a:pPr>
              <a:lnSpc>
                <a:spcPct val="140000"/>
              </a:lnSpc>
            </a:pPr>
            <a:endParaRPr lang="en-US" sz="3600">
              <a:solidFill>
                <a:srgbClr val="002060"/>
              </a:solidFill>
              <a:sym typeface="+mn-ea"/>
            </a:endParaRPr>
          </a:p>
          <a:p>
            <a:pPr>
              <a:lnSpc>
                <a:spcPct val="140000"/>
              </a:lnSpc>
            </a:pPr>
            <a:endParaRPr lang="en-US" sz="3600">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93663"/>
            <a:ext cx="10972800" cy="1143000"/>
          </a:xfrm>
        </p:spPr>
        <p:txBody>
          <a:bodyPr/>
          <a:p>
            <a:r>
              <a:rPr lang="en-US">
                <a:solidFill>
                  <a:srgbClr val="FF0000"/>
                </a:solidFill>
              </a:rPr>
              <a:t>Problem 2</a:t>
            </a:r>
            <a:endParaRPr lang="en-US">
              <a:solidFill>
                <a:srgbClr val="FF0000"/>
              </a:solidFill>
            </a:endParaRPr>
          </a:p>
        </p:txBody>
      </p:sp>
      <p:sp>
        <p:nvSpPr>
          <p:cNvPr id="3" name="Content Placeholder 2"/>
          <p:cNvSpPr>
            <a:spLocks noGrp="1"/>
          </p:cNvSpPr>
          <p:nvPr>
            <p:ph idx="1"/>
          </p:nvPr>
        </p:nvSpPr>
        <p:spPr>
          <a:xfrm>
            <a:off x="269240" y="1163320"/>
            <a:ext cx="11611610" cy="5608955"/>
          </a:xfrm>
        </p:spPr>
        <p:txBody>
          <a:bodyPr/>
          <a:p>
            <a:pPr>
              <a:lnSpc>
                <a:spcPct val="140000"/>
              </a:lnSpc>
            </a:pPr>
            <a:r>
              <a:rPr lang="en-US" sz="3600" b="1">
                <a:solidFill>
                  <a:srgbClr val="002060"/>
                </a:solidFill>
                <a:sym typeface="+mn-ea"/>
              </a:rPr>
              <a:t>Test case 4</a:t>
            </a:r>
            <a:endParaRPr lang="en-US" sz="3600" b="1">
              <a:solidFill>
                <a:srgbClr val="002060"/>
              </a:solidFill>
              <a:sym typeface="+mn-ea"/>
            </a:endParaRPr>
          </a:p>
          <a:p>
            <a:pPr>
              <a:lnSpc>
                <a:spcPct val="140000"/>
              </a:lnSpc>
            </a:pPr>
            <a:r>
              <a:rPr lang="en-US" sz="3600">
                <a:solidFill>
                  <a:srgbClr val="002060"/>
                </a:solidFill>
                <a:sym typeface="+mn-ea"/>
              </a:rPr>
              <a:t>[4,2,1], [7,4,5]</a:t>
            </a:r>
            <a:endParaRPr lang="en-US" sz="3600">
              <a:solidFill>
                <a:srgbClr val="002060"/>
              </a:solidFill>
              <a:sym typeface="+mn-ea"/>
            </a:endParaRPr>
          </a:p>
          <a:p>
            <a:pPr>
              <a:lnSpc>
                <a:spcPct val="140000"/>
              </a:lnSpc>
            </a:pPr>
            <a:r>
              <a:rPr lang="en-US" sz="3600">
                <a:solidFill>
                  <a:srgbClr val="002060"/>
                </a:solidFill>
                <a:sym typeface="+mn-ea"/>
              </a:rPr>
              <a:t>[1, 2, 4, 5, 7]</a:t>
            </a:r>
            <a:endParaRPr lang="en-US" sz="3600">
              <a:solidFill>
                <a:srgbClr val="002060"/>
              </a:solidFill>
              <a:sym typeface="+mn-ea"/>
            </a:endParaRPr>
          </a:p>
          <a:p>
            <a:pPr>
              <a:lnSpc>
                <a:spcPct val="140000"/>
              </a:lnSpc>
            </a:pPr>
            <a:endParaRPr lang="en-US" sz="3600">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93663"/>
            <a:ext cx="10972800" cy="1143000"/>
          </a:xfrm>
        </p:spPr>
        <p:txBody>
          <a:bodyPr/>
          <a:p>
            <a:r>
              <a:rPr lang="en-US">
                <a:solidFill>
                  <a:srgbClr val="FF0000"/>
                </a:solidFill>
              </a:rPr>
              <a:t>Problem 2</a:t>
            </a:r>
            <a:endParaRPr lang="en-US">
              <a:solidFill>
                <a:srgbClr val="FF0000"/>
              </a:solidFill>
            </a:endParaRPr>
          </a:p>
        </p:txBody>
      </p:sp>
      <p:sp>
        <p:nvSpPr>
          <p:cNvPr id="3" name="Content Placeholder 2"/>
          <p:cNvSpPr>
            <a:spLocks noGrp="1"/>
          </p:cNvSpPr>
          <p:nvPr>
            <p:ph idx="1"/>
          </p:nvPr>
        </p:nvSpPr>
        <p:spPr>
          <a:xfrm>
            <a:off x="269240" y="1163320"/>
            <a:ext cx="11611610" cy="5608955"/>
          </a:xfrm>
        </p:spPr>
        <p:txBody>
          <a:bodyPr/>
          <a:p>
            <a:pPr>
              <a:lnSpc>
                <a:spcPct val="130000"/>
              </a:lnSpc>
            </a:pPr>
            <a:r>
              <a:rPr lang="en-US" sz="4000" b="1">
                <a:solidFill>
                  <a:srgbClr val="002060"/>
                </a:solidFill>
                <a:sym typeface="+mn-ea"/>
              </a:rPr>
              <a:t>Test case 5</a:t>
            </a:r>
            <a:endParaRPr lang="en-US" sz="4000" b="1">
              <a:solidFill>
                <a:srgbClr val="002060"/>
              </a:solidFill>
              <a:sym typeface="+mn-ea"/>
            </a:endParaRPr>
          </a:p>
          <a:p>
            <a:pPr>
              <a:lnSpc>
                <a:spcPct val="130000"/>
              </a:lnSpc>
            </a:pPr>
            <a:r>
              <a:rPr lang="en-US" sz="4000">
                <a:solidFill>
                  <a:srgbClr val="002060"/>
                </a:solidFill>
                <a:sym typeface="+mn-ea"/>
              </a:rPr>
              <a:t>[3,1], [7,2]</a:t>
            </a:r>
            <a:endParaRPr lang="en-US" sz="4000">
              <a:solidFill>
                <a:srgbClr val="002060"/>
              </a:solidFill>
              <a:sym typeface="+mn-ea"/>
            </a:endParaRPr>
          </a:p>
          <a:p>
            <a:pPr>
              <a:lnSpc>
                <a:spcPct val="130000"/>
              </a:lnSpc>
            </a:pPr>
            <a:r>
              <a:rPr lang="en-US" sz="4000">
                <a:solidFill>
                  <a:srgbClr val="002060"/>
                </a:solidFill>
                <a:sym typeface="+mn-ea"/>
              </a:rPr>
              <a:t>Invalid</a:t>
            </a:r>
            <a:endParaRPr lang="en-US" sz="4000">
              <a:solidFill>
                <a:srgbClr val="002060"/>
              </a:solidFill>
            </a:endParaRPr>
          </a:p>
          <a:p>
            <a:pPr>
              <a:lnSpc>
                <a:spcPct val="140000"/>
              </a:lnSpc>
            </a:pPr>
            <a:endParaRPr lang="en-US" sz="40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0025" y="0"/>
            <a:ext cx="3340100" cy="1143000"/>
          </a:xfrm>
        </p:spPr>
        <p:txBody>
          <a:bodyPr/>
          <a:p>
            <a:r>
              <a:rPr lang="en-US">
                <a:solidFill>
                  <a:srgbClr val="FF0000"/>
                </a:solidFill>
              </a:rPr>
              <a:t>Problem 1</a:t>
            </a:r>
            <a:endParaRPr lang="en-US">
              <a:solidFill>
                <a:srgbClr val="FF0000"/>
              </a:solidFill>
            </a:endParaRPr>
          </a:p>
        </p:txBody>
      </p:sp>
      <p:sp>
        <p:nvSpPr>
          <p:cNvPr id="3" name="Content Placeholder 2"/>
          <p:cNvSpPr>
            <a:spLocks noGrp="1"/>
          </p:cNvSpPr>
          <p:nvPr>
            <p:ph idx="1"/>
          </p:nvPr>
        </p:nvSpPr>
        <p:spPr>
          <a:xfrm>
            <a:off x="290195" y="991235"/>
            <a:ext cx="4784725" cy="5608955"/>
          </a:xfrm>
        </p:spPr>
        <p:txBody>
          <a:bodyPr/>
          <a:p>
            <a:pPr marL="0" indent="0">
              <a:lnSpc>
                <a:spcPct val="100000"/>
              </a:lnSpc>
              <a:buNone/>
            </a:pPr>
            <a:r>
              <a:rPr lang="en-US" sz="2400" b="1">
                <a:solidFill>
                  <a:srgbClr val="002060"/>
                </a:solidFill>
              </a:rPr>
              <a:t>TC1 - &gt;</a:t>
            </a:r>
            <a:r>
              <a:rPr lang="en-US" sz="2400">
                <a:solidFill>
                  <a:srgbClr val="002060"/>
                </a:solidFill>
              </a:rPr>
              <a:t>[3,1], [7,4]</a:t>
            </a:r>
            <a:endParaRPr lang="en-US" sz="2400">
              <a:solidFill>
                <a:srgbClr val="002060"/>
              </a:solidFill>
            </a:endParaRPr>
          </a:p>
          <a:p>
            <a:pPr marL="0" indent="0">
              <a:lnSpc>
                <a:spcPct val="100000"/>
              </a:lnSpc>
              <a:buNone/>
            </a:pPr>
            <a:r>
              <a:rPr lang="en-US" sz="2400" b="1">
                <a:solidFill>
                  <a:srgbClr val="002060"/>
                </a:solidFill>
              </a:rPr>
              <a:t>OP -&gt; </a:t>
            </a:r>
            <a:r>
              <a:rPr lang="en-US" sz="2400">
                <a:solidFill>
                  <a:srgbClr val="002060"/>
                </a:solidFill>
              </a:rPr>
              <a:t>[1,3,4,7]</a:t>
            </a:r>
            <a:endParaRPr lang="en-US" sz="2400">
              <a:solidFill>
                <a:srgbClr val="002060"/>
              </a:solidFill>
            </a:endParaRPr>
          </a:p>
          <a:p>
            <a:pPr marL="0" indent="0">
              <a:lnSpc>
                <a:spcPct val="100000"/>
              </a:lnSpc>
              <a:buNone/>
            </a:pPr>
            <a:r>
              <a:rPr lang="en-US" sz="2400" b="1">
                <a:solidFill>
                  <a:srgbClr val="002060"/>
                </a:solidFill>
                <a:sym typeface="+mn-ea"/>
              </a:rPr>
              <a:t>TC2 -&gt; </a:t>
            </a:r>
            <a:r>
              <a:rPr lang="en-US" sz="2400">
                <a:solidFill>
                  <a:srgbClr val="002060"/>
                </a:solidFill>
                <a:sym typeface="+mn-ea"/>
              </a:rPr>
              <a:t>[4,1], [7,4]</a:t>
            </a:r>
            <a:endParaRPr lang="en-US" sz="2400">
              <a:solidFill>
                <a:srgbClr val="002060"/>
              </a:solidFill>
              <a:sym typeface="+mn-ea"/>
            </a:endParaRPr>
          </a:p>
          <a:p>
            <a:pPr marL="0" indent="0">
              <a:lnSpc>
                <a:spcPct val="100000"/>
              </a:lnSpc>
              <a:buNone/>
            </a:pPr>
            <a:r>
              <a:rPr lang="en-US" sz="2400" b="1">
                <a:solidFill>
                  <a:srgbClr val="002060"/>
                </a:solidFill>
                <a:sym typeface="+mn-ea"/>
              </a:rPr>
              <a:t>OP -&gt; </a:t>
            </a:r>
            <a:r>
              <a:rPr lang="en-US" sz="2400">
                <a:solidFill>
                  <a:srgbClr val="002060"/>
                </a:solidFill>
                <a:sym typeface="+mn-ea"/>
              </a:rPr>
              <a:t>[1, 4, 7]</a:t>
            </a:r>
            <a:endParaRPr lang="en-US" sz="2400">
              <a:solidFill>
                <a:srgbClr val="002060"/>
              </a:solidFill>
              <a:sym typeface="+mn-ea"/>
            </a:endParaRPr>
          </a:p>
          <a:p>
            <a:pPr marL="0" indent="0">
              <a:lnSpc>
                <a:spcPct val="100000"/>
              </a:lnSpc>
              <a:buNone/>
            </a:pPr>
            <a:r>
              <a:rPr lang="en-US" sz="2400" b="1">
                <a:solidFill>
                  <a:srgbClr val="002060"/>
                </a:solidFill>
                <a:sym typeface="+mn-ea"/>
              </a:rPr>
              <a:t>TC3 -&gt; </a:t>
            </a:r>
            <a:r>
              <a:rPr lang="en-US" sz="2400">
                <a:solidFill>
                  <a:srgbClr val="002060"/>
                </a:solidFill>
                <a:sym typeface="+mn-ea"/>
              </a:rPr>
              <a:t>[4,2], [2,4]</a:t>
            </a:r>
            <a:endParaRPr lang="en-US" sz="2400">
              <a:solidFill>
                <a:srgbClr val="002060"/>
              </a:solidFill>
              <a:sym typeface="+mn-ea"/>
            </a:endParaRPr>
          </a:p>
          <a:p>
            <a:pPr marL="0" indent="0">
              <a:lnSpc>
                <a:spcPct val="100000"/>
              </a:lnSpc>
              <a:buNone/>
            </a:pPr>
            <a:r>
              <a:rPr lang="en-US" sz="2400" b="1">
                <a:solidFill>
                  <a:srgbClr val="002060"/>
                </a:solidFill>
                <a:sym typeface="+mn-ea"/>
              </a:rPr>
              <a:t>OP -&gt; </a:t>
            </a:r>
            <a:r>
              <a:rPr lang="en-US" sz="2400">
                <a:solidFill>
                  <a:srgbClr val="002060"/>
                </a:solidFill>
                <a:sym typeface="+mn-ea"/>
              </a:rPr>
              <a:t>[2,4]</a:t>
            </a:r>
            <a:endParaRPr lang="en-US" sz="2400">
              <a:solidFill>
                <a:srgbClr val="002060"/>
              </a:solidFill>
              <a:sym typeface="+mn-ea"/>
            </a:endParaRPr>
          </a:p>
          <a:p>
            <a:pPr marL="0" indent="0">
              <a:lnSpc>
                <a:spcPct val="100000"/>
              </a:lnSpc>
              <a:buNone/>
            </a:pPr>
            <a:r>
              <a:rPr lang="en-US" sz="2400" b="1">
                <a:solidFill>
                  <a:srgbClr val="002060"/>
                </a:solidFill>
                <a:sym typeface="+mn-ea"/>
              </a:rPr>
              <a:t>TC4 -&gt; </a:t>
            </a:r>
            <a:r>
              <a:rPr lang="en-US" sz="2400">
                <a:solidFill>
                  <a:srgbClr val="002060"/>
                </a:solidFill>
                <a:sym typeface="+mn-ea"/>
              </a:rPr>
              <a:t>[4,2,1], [7,4,5]</a:t>
            </a:r>
            <a:endParaRPr lang="en-US" sz="2400">
              <a:solidFill>
                <a:srgbClr val="002060"/>
              </a:solidFill>
              <a:sym typeface="+mn-ea"/>
            </a:endParaRPr>
          </a:p>
          <a:p>
            <a:pPr marL="0" indent="0">
              <a:lnSpc>
                <a:spcPct val="100000"/>
              </a:lnSpc>
              <a:buNone/>
            </a:pPr>
            <a:r>
              <a:rPr lang="en-US" sz="2400" b="1">
                <a:solidFill>
                  <a:srgbClr val="002060"/>
                </a:solidFill>
                <a:sym typeface="+mn-ea"/>
              </a:rPr>
              <a:t>OP -&gt; </a:t>
            </a:r>
            <a:r>
              <a:rPr lang="en-US" sz="2400">
                <a:solidFill>
                  <a:srgbClr val="002060"/>
                </a:solidFill>
                <a:sym typeface="+mn-ea"/>
              </a:rPr>
              <a:t>[1, 2, 4, 5, 7]</a:t>
            </a:r>
            <a:endParaRPr lang="en-US" sz="2400">
              <a:solidFill>
                <a:srgbClr val="002060"/>
              </a:solidFill>
              <a:sym typeface="+mn-ea"/>
            </a:endParaRPr>
          </a:p>
          <a:p>
            <a:pPr marL="0" indent="0">
              <a:lnSpc>
                <a:spcPct val="100000"/>
              </a:lnSpc>
              <a:buNone/>
            </a:pPr>
            <a:r>
              <a:rPr lang="en-US" sz="2400" b="1">
                <a:solidFill>
                  <a:srgbClr val="002060"/>
                </a:solidFill>
                <a:sym typeface="+mn-ea"/>
              </a:rPr>
              <a:t>TC5-&gt;</a:t>
            </a:r>
            <a:r>
              <a:rPr lang="en-US" sz="2400">
                <a:solidFill>
                  <a:srgbClr val="002060"/>
                </a:solidFill>
                <a:sym typeface="+mn-ea"/>
              </a:rPr>
              <a:t>[3,1], [7,2]</a:t>
            </a:r>
            <a:endParaRPr lang="en-US" sz="2400">
              <a:solidFill>
                <a:srgbClr val="002060"/>
              </a:solidFill>
              <a:sym typeface="+mn-ea"/>
            </a:endParaRPr>
          </a:p>
          <a:p>
            <a:pPr marL="0" indent="0">
              <a:lnSpc>
                <a:spcPct val="100000"/>
              </a:lnSpc>
              <a:buNone/>
            </a:pPr>
            <a:r>
              <a:rPr lang="en-US" sz="2400" b="1">
                <a:solidFill>
                  <a:srgbClr val="002060"/>
                </a:solidFill>
                <a:sym typeface="+mn-ea"/>
              </a:rPr>
              <a:t>OP -&gt; </a:t>
            </a:r>
            <a:r>
              <a:rPr lang="en-US" sz="2400">
                <a:solidFill>
                  <a:srgbClr val="002060"/>
                </a:solidFill>
                <a:sym typeface="+mn-ea"/>
              </a:rPr>
              <a:t>[1,2,3,7]</a:t>
            </a:r>
            <a:endParaRPr lang="en-US" sz="2400">
              <a:solidFill>
                <a:srgbClr val="002060"/>
              </a:solidFill>
            </a:endParaRPr>
          </a:p>
          <a:p>
            <a:pPr>
              <a:lnSpc>
                <a:spcPct val="140000"/>
              </a:lnSpc>
            </a:pPr>
            <a:endParaRPr lang="en-US" sz="2400">
              <a:solidFill>
                <a:srgbClr val="002060"/>
              </a:solidFill>
            </a:endParaRPr>
          </a:p>
        </p:txBody>
      </p:sp>
      <p:sp>
        <p:nvSpPr>
          <p:cNvPr id="4" name="Title 1"/>
          <p:cNvSpPr>
            <a:spLocks noGrp="1"/>
          </p:cNvSpPr>
          <p:nvPr/>
        </p:nvSpPr>
        <p:spPr>
          <a:xfrm>
            <a:off x="5971540" y="116205"/>
            <a:ext cx="3340100" cy="1143000"/>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a:solidFill>
                  <a:srgbClr val="FF0000"/>
                </a:solidFill>
              </a:rPr>
              <a:t>Problem 2</a:t>
            </a:r>
            <a:endParaRPr lang="en-US">
              <a:solidFill>
                <a:srgbClr val="FF0000"/>
              </a:solidFill>
            </a:endParaRPr>
          </a:p>
        </p:txBody>
      </p:sp>
      <p:sp>
        <p:nvSpPr>
          <p:cNvPr id="5" name="Content Placeholder 2"/>
          <p:cNvSpPr>
            <a:spLocks noGrp="1"/>
          </p:cNvSpPr>
          <p:nvPr/>
        </p:nvSpPr>
        <p:spPr>
          <a:xfrm>
            <a:off x="6279515" y="991235"/>
            <a:ext cx="4892040" cy="5608955"/>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marL="0" indent="0">
              <a:lnSpc>
                <a:spcPct val="100000"/>
              </a:lnSpc>
              <a:buNone/>
            </a:pPr>
            <a:r>
              <a:rPr lang="en-US" sz="2400" b="1">
                <a:solidFill>
                  <a:srgbClr val="002060"/>
                </a:solidFill>
                <a:sym typeface="+mn-ea"/>
              </a:rPr>
              <a:t>TC1 - &gt;</a:t>
            </a:r>
            <a:r>
              <a:rPr lang="en-US" sz="2400">
                <a:solidFill>
                  <a:srgbClr val="002060"/>
                </a:solidFill>
                <a:sym typeface="+mn-ea"/>
              </a:rPr>
              <a:t>[3,1], [7,4]</a:t>
            </a:r>
            <a:endParaRPr lang="en-US" sz="2400">
              <a:solidFill>
                <a:srgbClr val="002060"/>
              </a:solidFill>
            </a:endParaRPr>
          </a:p>
          <a:p>
            <a:pPr marL="0" indent="0">
              <a:lnSpc>
                <a:spcPct val="100000"/>
              </a:lnSpc>
              <a:buNone/>
            </a:pPr>
            <a:r>
              <a:rPr lang="en-US" sz="2400" b="1">
                <a:solidFill>
                  <a:srgbClr val="002060"/>
                </a:solidFill>
                <a:sym typeface="+mn-ea"/>
              </a:rPr>
              <a:t>OP -&gt; </a:t>
            </a:r>
            <a:r>
              <a:rPr lang="en-US" sz="2400">
                <a:solidFill>
                  <a:srgbClr val="002060"/>
                </a:solidFill>
                <a:sym typeface="+mn-ea"/>
              </a:rPr>
              <a:t>[1,3,4,7]</a:t>
            </a:r>
            <a:endParaRPr lang="en-US" sz="2400">
              <a:solidFill>
                <a:srgbClr val="002060"/>
              </a:solidFill>
            </a:endParaRPr>
          </a:p>
          <a:p>
            <a:pPr marL="0" indent="0">
              <a:lnSpc>
                <a:spcPct val="100000"/>
              </a:lnSpc>
              <a:buNone/>
            </a:pPr>
            <a:r>
              <a:rPr lang="en-US" sz="2400" b="1">
                <a:solidFill>
                  <a:srgbClr val="002060"/>
                </a:solidFill>
                <a:sym typeface="+mn-ea"/>
              </a:rPr>
              <a:t>TC2 -&gt; </a:t>
            </a:r>
            <a:r>
              <a:rPr lang="en-US" sz="2400">
                <a:solidFill>
                  <a:srgbClr val="002060"/>
                </a:solidFill>
                <a:sym typeface="+mn-ea"/>
              </a:rPr>
              <a:t>[4,1], [7,4]</a:t>
            </a:r>
            <a:endParaRPr lang="en-US" sz="2400">
              <a:solidFill>
                <a:srgbClr val="002060"/>
              </a:solidFill>
              <a:sym typeface="+mn-ea"/>
            </a:endParaRPr>
          </a:p>
          <a:p>
            <a:pPr marL="0" indent="0">
              <a:lnSpc>
                <a:spcPct val="100000"/>
              </a:lnSpc>
              <a:buNone/>
            </a:pPr>
            <a:r>
              <a:rPr lang="en-US" sz="2400" b="1">
                <a:solidFill>
                  <a:srgbClr val="002060"/>
                </a:solidFill>
                <a:sym typeface="+mn-ea"/>
              </a:rPr>
              <a:t>OP -&gt; </a:t>
            </a:r>
            <a:r>
              <a:rPr lang="en-US" sz="2400">
                <a:solidFill>
                  <a:srgbClr val="002060"/>
                </a:solidFill>
                <a:sym typeface="+mn-ea"/>
              </a:rPr>
              <a:t>[1, 4, 7]</a:t>
            </a:r>
            <a:endParaRPr lang="en-US" sz="2400">
              <a:solidFill>
                <a:srgbClr val="002060"/>
              </a:solidFill>
              <a:sym typeface="+mn-ea"/>
            </a:endParaRPr>
          </a:p>
          <a:p>
            <a:pPr marL="0" indent="0">
              <a:lnSpc>
                <a:spcPct val="100000"/>
              </a:lnSpc>
              <a:buNone/>
            </a:pPr>
            <a:r>
              <a:rPr lang="en-US" sz="2400" b="1">
                <a:solidFill>
                  <a:srgbClr val="002060"/>
                </a:solidFill>
                <a:sym typeface="+mn-ea"/>
              </a:rPr>
              <a:t>TC3 -&gt; </a:t>
            </a:r>
            <a:r>
              <a:rPr lang="en-US" sz="2400">
                <a:solidFill>
                  <a:srgbClr val="002060"/>
                </a:solidFill>
                <a:sym typeface="+mn-ea"/>
              </a:rPr>
              <a:t>[4,2], [2,4]</a:t>
            </a:r>
            <a:endParaRPr lang="en-US" sz="2400">
              <a:solidFill>
                <a:srgbClr val="002060"/>
              </a:solidFill>
              <a:sym typeface="+mn-ea"/>
            </a:endParaRPr>
          </a:p>
          <a:p>
            <a:pPr marL="0" indent="0">
              <a:lnSpc>
                <a:spcPct val="100000"/>
              </a:lnSpc>
              <a:buNone/>
            </a:pPr>
            <a:r>
              <a:rPr lang="en-US" sz="2400" b="1">
                <a:solidFill>
                  <a:srgbClr val="002060"/>
                </a:solidFill>
                <a:sym typeface="+mn-ea"/>
              </a:rPr>
              <a:t>OP -&gt; </a:t>
            </a:r>
            <a:r>
              <a:rPr lang="en-US" sz="2400">
                <a:solidFill>
                  <a:srgbClr val="002060"/>
                </a:solidFill>
                <a:sym typeface="+mn-ea"/>
              </a:rPr>
              <a:t>[2,4]</a:t>
            </a:r>
            <a:endParaRPr lang="en-US" sz="2400">
              <a:solidFill>
                <a:srgbClr val="002060"/>
              </a:solidFill>
              <a:sym typeface="+mn-ea"/>
            </a:endParaRPr>
          </a:p>
          <a:p>
            <a:pPr marL="0" indent="0">
              <a:lnSpc>
                <a:spcPct val="100000"/>
              </a:lnSpc>
              <a:buNone/>
            </a:pPr>
            <a:r>
              <a:rPr lang="en-US" sz="2400" b="1">
                <a:solidFill>
                  <a:srgbClr val="002060"/>
                </a:solidFill>
                <a:sym typeface="+mn-ea"/>
              </a:rPr>
              <a:t>TC4 -&gt; </a:t>
            </a:r>
            <a:r>
              <a:rPr lang="en-US" sz="2400">
                <a:solidFill>
                  <a:srgbClr val="002060"/>
                </a:solidFill>
                <a:sym typeface="+mn-ea"/>
              </a:rPr>
              <a:t>[4,2,1], [7,4,5]</a:t>
            </a:r>
            <a:endParaRPr lang="en-US" sz="2400">
              <a:solidFill>
                <a:srgbClr val="002060"/>
              </a:solidFill>
              <a:sym typeface="+mn-ea"/>
            </a:endParaRPr>
          </a:p>
          <a:p>
            <a:pPr marL="0" indent="0">
              <a:lnSpc>
                <a:spcPct val="100000"/>
              </a:lnSpc>
              <a:buNone/>
            </a:pPr>
            <a:r>
              <a:rPr lang="en-US" sz="2400" b="1">
                <a:solidFill>
                  <a:srgbClr val="002060"/>
                </a:solidFill>
                <a:sym typeface="+mn-ea"/>
              </a:rPr>
              <a:t>OP -&gt; </a:t>
            </a:r>
            <a:r>
              <a:rPr lang="en-US" sz="2400">
                <a:solidFill>
                  <a:srgbClr val="002060"/>
                </a:solidFill>
                <a:sym typeface="+mn-ea"/>
              </a:rPr>
              <a:t>[1, 2, 4, 5, 7]</a:t>
            </a:r>
            <a:endParaRPr lang="en-US" sz="2400">
              <a:solidFill>
                <a:srgbClr val="002060"/>
              </a:solidFill>
              <a:sym typeface="+mn-ea"/>
            </a:endParaRPr>
          </a:p>
          <a:p>
            <a:pPr marL="0" indent="0">
              <a:lnSpc>
                <a:spcPct val="100000"/>
              </a:lnSpc>
              <a:buNone/>
            </a:pPr>
            <a:r>
              <a:rPr lang="en-US" sz="2400" b="1">
                <a:solidFill>
                  <a:srgbClr val="002060"/>
                </a:solidFill>
                <a:sym typeface="+mn-ea"/>
              </a:rPr>
              <a:t>TC5-&gt;</a:t>
            </a:r>
            <a:r>
              <a:rPr lang="en-US" sz="2400">
                <a:solidFill>
                  <a:srgbClr val="002060"/>
                </a:solidFill>
                <a:sym typeface="+mn-ea"/>
              </a:rPr>
              <a:t>[3,1], [7,2]</a:t>
            </a:r>
            <a:endParaRPr lang="en-US" sz="2400">
              <a:solidFill>
                <a:srgbClr val="002060"/>
              </a:solidFill>
              <a:sym typeface="+mn-ea"/>
            </a:endParaRPr>
          </a:p>
          <a:p>
            <a:pPr marL="0" indent="0">
              <a:lnSpc>
                <a:spcPct val="100000"/>
              </a:lnSpc>
              <a:buNone/>
            </a:pPr>
            <a:r>
              <a:rPr lang="en-US" sz="2400" b="1">
                <a:solidFill>
                  <a:srgbClr val="002060"/>
                </a:solidFill>
                <a:sym typeface="+mn-ea"/>
              </a:rPr>
              <a:t>OP -&gt; </a:t>
            </a:r>
            <a:r>
              <a:rPr lang="en-US" sz="2400">
                <a:solidFill>
                  <a:srgbClr val="002060"/>
                </a:solidFill>
                <a:sym typeface="+mn-ea"/>
              </a:rPr>
              <a:t>Invalid</a:t>
            </a:r>
            <a:endParaRPr lang="en-US" sz="2400">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P spid="5" grpId="0"/>
      <p:bldP spid="5"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Define the Problem from the Procedure</a:t>
            </a:r>
            <a:endParaRPr lang="en-US">
              <a:solidFill>
                <a:srgbClr val="FF0000"/>
              </a:solidFill>
            </a:endParaRPr>
          </a:p>
        </p:txBody>
      </p:sp>
      <p:sp>
        <p:nvSpPr>
          <p:cNvPr id="3" name="Content Placeholder 2"/>
          <p:cNvSpPr>
            <a:spLocks noGrp="1"/>
          </p:cNvSpPr>
          <p:nvPr>
            <p:ph idx="1"/>
          </p:nvPr>
        </p:nvSpPr>
        <p:spPr>
          <a:xfrm>
            <a:off x="290195" y="980440"/>
            <a:ext cx="11611610" cy="5608955"/>
          </a:xfrm>
        </p:spPr>
        <p:txBody>
          <a:bodyPr/>
          <a:p>
            <a:pPr>
              <a:lnSpc>
                <a:spcPct val="160000"/>
              </a:lnSpc>
            </a:pPr>
            <a:r>
              <a:rPr lang="en-US" sz="4000">
                <a:solidFill>
                  <a:srgbClr val="002060"/>
                </a:solidFill>
                <a:sym typeface="+mn-ea"/>
              </a:rPr>
              <a:t>Students reconstruct the task and the governing rules from a given step-by-step solution, then justify and implement</a:t>
            </a:r>
            <a:endParaRPr lang="en-US" sz="4000">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Solution Steps of the Problem</a:t>
            </a:r>
            <a:endParaRPr lang="en-US">
              <a:solidFill>
                <a:srgbClr val="FF0000"/>
              </a:solidFill>
            </a:endParaRPr>
          </a:p>
        </p:txBody>
      </p:sp>
      <p:sp>
        <p:nvSpPr>
          <p:cNvPr id="3" name="Content Placeholder 2"/>
          <p:cNvSpPr>
            <a:spLocks noGrp="1"/>
          </p:cNvSpPr>
          <p:nvPr>
            <p:ph idx="1"/>
          </p:nvPr>
        </p:nvSpPr>
        <p:spPr>
          <a:xfrm>
            <a:off x="290195" y="980440"/>
            <a:ext cx="11611610" cy="5608955"/>
          </a:xfrm>
        </p:spPr>
        <p:txBody>
          <a:bodyPr/>
          <a:p>
            <a:pPr>
              <a:lnSpc>
                <a:spcPct val="130000"/>
              </a:lnSpc>
            </a:pPr>
            <a:r>
              <a:rPr lang="en-US" sz="3400">
                <a:solidFill>
                  <a:srgbClr val="002060"/>
                </a:solidFill>
                <a:sym typeface="+mn-ea"/>
              </a:rPr>
              <a:t>Given array of elements : [2, -4, 6, -1, 3, -2]</a:t>
            </a:r>
            <a:endParaRPr lang="en-US" sz="3400">
              <a:solidFill>
                <a:srgbClr val="002060"/>
              </a:solidFill>
              <a:sym typeface="+mn-ea"/>
            </a:endParaRPr>
          </a:p>
          <a:p>
            <a:pPr>
              <a:lnSpc>
                <a:spcPct val="130000"/>
              </a:lnSpc>
            </a:pPr>
            <a:r>
              <a:rPr lang="en-US" sz="3400" b="1">
                <a:solidFill>
                  <a:srgbClr val="002060"/>
                </a:solidFill>
                <a:sym typeface="+mn-ea"/>
              </a:rPr>
              <a:t>Step 1: </a:t>
            </a:r>
            <a:r>
              <a:rPr lang="en-US" sz="3400">
                <a:solidFill>
                  <a:srgbClr val="002060"/>
                </a:solidFill>
                <a:sym typeface="+mn-ea"/>
              </a:rPr>
              <a:t>Start with first element (2)</a:t>
            </a:r>
            <a:endParaRPr lang="en-US" sz="3600">
              <a:solidFill>
                <a:srgbClr val="002060"/>
              </a:solidFill>
              <a:sym typeface="+mn-ea"/>
            </a:endParaRPr>
          </a:p>
          <a:p>
            <a:pPr lvl="1">
              <a:lnSpc>
                <a:spcPct val="130000"/>
              </a:lnSpc>
            </a:pPr>
            <a:r>
              <a:rPr lang="en-US" sz="3200">
                <a:solidFill>
                  <a:srgbClr val="002060"/>
                </a:solidFill>
                <a:sym typeface="+mn-ea"/>
              </a:rPr>
              <a:t>current_start_index=1</a:t>
            </a:r>
            <a:endParaRPr lang="en-US" sz="3200">
              <a:solidFill>
                <a:srgbClr val="002060"/>
              </a:solidFill>
              <a:sym typeface="+mn-ea"/>
            </a:endParaRPr>
          </a:p>
          <a:p>
            <a:pPr lvl="1">
              <a:lnSpc>
                <a:spcPct val="130000"/>
              </a:lnSpc>
            </a:pPr>
            <a:r>
              <a:rPr lang="en-US" sz="3200">
                <a:solidFill>
                  <a:srgbClr val="002060"/>
                </a:solidFill>
                <a:sym typeface="+mn-ea"/>
              </a:rPr>
              <a:t>current_end_index=1</a:t>
            </a:r>
            <a:endParaRPr lang="en-US" sz="3200">
              <a:solidFill>
                <a:srgbClr val="002060"/>
              </a:solidFill>
              <a:sym typeface="+mn-ea"/>
            </a:endParaRPr>
          </a:p>
          <a:p>
            <a:pPr lvl="1">
              <a:lnSpc>
                <a:spcPct val="130000"/>
              </a:lnSpc>
            </a:pPr>
            <a:r>
              <a:rPr lang="en-US" sz="3200">
                <a:solidFill>
                  <a:srgbClr val="002060"/>
                </a:solidFill>
                <a:sym typeface="+mn-ea"/>
              </a:rPr>
              <a:t>current_sum = 2</a:t>
            </a:r>
            <a:endParaRPr lang="en-US" sz="3200">
              <a:solidFill>
                <a:srgbClr val="002060"/>
              </a:solidFill>
              <a:sym typeface="+mn-ea"/>
            </a:endParaRPr>
          </a:p>
          <a:p>
            <a:pPr lvl="1">
              <a:lnSpc>
                <a:spcPct val="130000"/>
              </a:lnSpc>
            </a:pPr>
            <a:r>
              <a:rPr lang="en-US" sz="3200">
                <a:solidFill>
                  <a:srgbClr val="002060"/>
                </a:solidFill>
                <a:sym typeface="+mn-ea"/>
              </a:rPr>
              <a:t>best_sum = 2</a:t>
            </a:r>
            <a:endParaRPr lang="en-US" sz="3200">
              <a:solidFill>
                <a:srgbClr val="002060"/>
              </a:solidFill>
              <a:sym typeface="+mn-ea"/>
            </a:endParaRPr>
          </a:p>
          <a:p>
            <a:pPr lvl="1">
              <a:lnSpc>
                <a:spcPct val="130000"/>
              </a:lnSpc>
            </a:pPr>
            <a:r>
              <a:rPr lang="en-US" sz="3200">
                <a:solidFill>
                  <a:srgbClr val="002060"/>
                </a:solidFill>
                <a:sym typeface="+mn-ea"/>
              </a:rPr>
              <a:t>best_start_index = 1</a:t>
            </a:r>
            <a:endParaRPr lang="en-US" sz="3200">
              <a:solidFill>
                <a:srgbClr val="002060"/>
              </a:solidFill>
              <a:sym typeface="+mn-ea"/>
            </a:endParaRPr>
          </a:p>
          <a:p>
            <a:pPr lvl="1">
              <a:lnSpc>
                <a:spcPct val="130000"/>
              </a:lnSpc>
            </a:pPr>
            <a:r>
              <a:rPr lang="en-US" sz="3200">
                <a:solidFill>
                  <a:srgbClr val="002060"/>
                </a:solidFill>
                <a:sym typeface="+mn-ea"/>
              </a:rPr>
              <a:t>best_end_index = 1</a:t>
            </a:r>
            <a:endParaRPr lang="en-US" sz="3200">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Solution Steps of the Problem</a:t>
            </a:r>
            <a:endParaRPr lang="en-US">
              <a:solidFill>
                <a:srgbClr val="FF0000"/>
              </a:solidFill>
            </a:endParaRPr>
          </a:p>
        </p:txBody>
      </p:sp>
      <p:sp>
        <p:nvSpPr>
          <p:cNvPr id="3" name="Content Placeholder 2"/>
          <p:cNvSpPr>
            <a:spLocks noGrp="1"/>
          </p:cNvSpPr>
          <p:nvPr>
            <p:ph idx="1"/>
          </p:nvPr>
        </p:nvSpPr>
        <p:spPr>
          <a:xfrm>
            <a:off x="290195" y="980440"/>
            <a:ext cx="11611610" cy="5608955"/>
          </a:xfrm>
        </p:spPr>
        <p:txBody>
          <a:bodyPr/>
          <a:p>
            <a:pPr>
              <a:lnSpc>
                <a:spcPct val="130000"/>
              </a:lnSpc>
            </a:pPr>
            <a:r>
              <a:rPr lang="en-US">
                <a:solidFill>
                  <a:srgbClr val="002060"/>
                </a:solidFill>
                <a:sym typeface="+mn-ea"/>
              </a:rPr>
              <a:t>Given array of elements : [2, -4, 6, -1, 3, -2]</a:t>
            </a:r>
            <a:endParaRPr lang="en-US">
              <a:solidFill>
                <a:srgbClr val="002060"/>
              </a:solidFill>
              <a:sym typeface="+mn-ea"/>
            </a:endParaRPr>
          </a:p>
          <a:p>
            <a:pPr>
              <a:lnSpc>
                <a:spcPct val="130000"/>
              </a:lnSpc>
            </a:pPr>
            <a:r>
              <a:rPr lang="en-US" b="1">
                <a:solidFill>
                  <a:srgbClr val="002060"/>
                </a:solidFill>
                <a:sym typeface="+mn-ea"/>
              </a:rPr>
              <a:t>Step 2: </a:t>
            </a:r>
            <a:r>
              <a:rPr lang="en-US">
                <a:solidFill>
                  <a:srgbClr val="002060"/>
                </a:solidFill>
                <a:sym typeface="+mn-ea"/>
              </a:rPr>
              <a:t>Next element (-4):  </a:t>
            </a:r>
            <a:endParaRPr lang="en-US">
              <a:solidFill>
                <a:srgbClr val="002060"/>
              </a:solidFill>
              <a:sym typeface="+mn-ea"/>
            </a:endParaRPr>
          </a:p>
          <a:p>
            <a:pPr lvl="1">
              <a:lnSpc>
                <a:spcPct val="130000"/>
              </a:lnSpc>
            </a:pPr>
            <a:r>
              <a:rPr lang="en-US">
                <a:solidFill>
                  <a:srgbClr val="002060"/>
                </a:solidFill>
                <a:sym typeface="+mn-ea"/>
              </a:rPr>
              <a:t>current_start_index=1</a:t>
            </a:r>
            <a:endParaRPr lang="en-US">
              <a:solidFill>
                <a:srgbClr val="002060"/>
              </a:solidFill>
              <a:sym typeface="+mn-ea"/>
            </a:endParaRPr>
          </a:p>
          <a:p>
            <a:pPr lvl="1">
              <a:lnSpc>
                <a:spcPct val="130000"/>
              </a:lnSpc>
            </a:pPr>
            <a:r>
              <a:rPr lang="en-US">
                <a:solidFill>
                  <a:srgbClr val="002060"/>
                </a:solidFill>
                <a:sym typeface="+mn-ea"/>
              </a:rPr>
              <a:t>current_end_index=2</a:t>
            </a:r>
            <a:endParaRPr lang="en-US">
              <a:solidFill>
                <a:srgbClr val="002060"/>
              </a:solidFill>
              <a:sym typeface="+mn-ea"/>
            </a:endParaRPr>
          </a:p>
          <a:p>
            <a:pPr lvl="1">
              <a:lnSpc>
                <a:spcPct val="130000"/>
              </a:lnSpc>
            </a:pPr>
            <a:r>
              <a:rPr lang="en-US">
                <a:solidFill>
                  <a:srgbClr val="002060"/>
                </a:solidFill>
                <a:sym typeface="+mn-ea"/>
              </a:rPr>
              <a:t>current_sum = 2+(-4)</a:t>
            </a:r>
            <a:endParaRPr lang="en-US">
              <a:solidFill>
                <a:srgbClr val="002060"/>
              </a:solidFill>
              <a:sym typeface="+mn-ea"/>
            </a:endParaRPr>
          </a:p>
          <a:p>
            <a:pPr lvl="1">
              <a:lnSpc>
                <a:spcPct val="130000"/>
              </a:lnSpc>
            </a:pPr>
            <a:r>
              <a:rPr lang="en-US">
                <a:solidFill>
                  <a:srgbClr val="002060"/>
                </a:solidFill>
                <a:sym typeface="+mn-ea"/>
              </a:rPr>
              <a:t>best_sum = 2</a:t>
            </a:r>
            <a:endParaRPr lang="en-US">
              <a:solidFill>
                <a:srgbClr val="002060"/>
              </a:solidFill>
              <a:sym typeface="+mn-ea"/>
            </a:endParaRPr>
          </a:p>
          <a:p>
            <a:pPr lvl="1">
              <a:lnSpc>
                <a:spcPct val="130000"/>
              </a:lnSpc>
            </a:pPr>
            <a:r>
              <a:rPr lang="en-US">
                <a:solidFill>
                  <a:srgbClr val="002060"/>
                </a:solidFill>
                <a:sym typeface="+mn-ea"/>
              </a:rPr>
              <a:t>best_start_index = 1</a:t>
            </a:r>
            <a:endParaRPr lang="en-US">
              <a:solidFill>
                <a:srgbClr val="002060"/>
              </a:solidFill>
              <a:sym typeface="+mn-ea"/>
            </a:endParaRPr>
          </a:p>
          <a:p>
            <a:pPr lvl="1">
              <a:lnSpc>
                <a:spcPct val="130000"/>
              </a:lnSpc>
            </a:pPr>
            <a:r>
              <a:rPr lang="en-US">
                <a:solidFill>
                  <a:srgbClr val="002060"/>
                </a:solidFill>
                <a:sym typeface="+mn-ea"/>
              </a:rPr>
              <a:t>best_end_index = 1</a:t>
            </a:r>
            <a:endParaRPr lang="en-US">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Solution Steps of the Problem</a:t>
            </a:r>
            <a:endParaRPr lang="en-US">
              <a:solidFill>
                <a:srgbClr val="FF0000"/>
              </a:solidFill>
            </a:endParaRPr>
          </a:p>
        </p:txBody>
      </p:sp>
      <p:sp>
        <p:nvSpPr>
          <p:cNvPr id="3" name="Content Placeholder 2"/>
          <p:cNvSpPr>
            <a:spLocks noGrp="1"/>
          </p:cNvSpPr>
          <p:nvPr>
            <p:ph idx="1"/>
          </p:nvPr>
        </p:nvSpPr>
        <p:spPr>
          <a:xfrm>
            <a:off x="290195" y="980440"/>
            <a:ext cx="11611610" cy="5608955"/>
          </a:xfrm>
        </p:spPr>
        <p:txBody>
          <a:bodyPr/>
          <a:p>
            <a:pPr>
              <a:lnSpc>
                <a:spcPct val="130000"/>
              </a:lnSpc>
            </a:pPr>
            <a:r>
              <a:rPr lang="en-US">
                <a:solidFill>
                  <a:srgbClr val="002060"/>
                </a:solidFill>
                <a:sym typeface="+mn-ea"/>
              </a:rPr>
              <a:t>Given array of elements : [2, -4, 6, -1, 3, -2]</a:t>
            </a:r>
            <a:endParaRPr lang="en-US">
              <a:solidFill>
                <a:srgbClr val="002060"/>
              </a:solidFill>
              <a:sym typeface="+mn-ea"/>
            </a:endParaRPr>
          </a:p>
          <a:p>
            <a:pPr>
              <a:lnSpc>
                <a:spcPct val="130000"/>
              </a:lnSpc>
            </a:pPr>
            <a:r>
              <a:rPr lang="en-US" b="1">
                <a:solidFill>
                  <a:srgbClr val="002060"/>
                </a:solidFill>
                <a:sym typeface="+mn-ea"/>
              </a:rPr>
              <a:t>Step 3: </a:t>
            </a:r>
            <a:r>
              <a:rPr lang="en-US">
                <a:solidFill>
                  <a:srgbClr val="002060"/>
                </a:solidFill>
                <a:sym typeface="+mn-ea"/>
              </a:rPr>
              <a:t>Next element (6):  </a:t>
            </a:r>
            <a:endParaRPr lang="en-US">
              <a:solidFill>
                <a:srgbClr val="002060"/>
              </a:solidFill>
              <a:sym typeface="+mn-ea"/>
            </a:endParaRPr>
          </a:p>
          <a:p>
            <a:pPr lvl="1">
              <a:lnSpc>
                <a:spcPct val="130000"/>
              </a:lnSpc>
            </a:pPr>
            <a:r>
              <a:rPr lang="en-US">
                <a:solidFill>
                  <a:srgbClr val="002060"/>
                </a:solidFill>
                <a:sym typeface="+mn-ea"/>
              </a:rPr>
              <a:t>current_start_index=3</a:t>
            </a:r>
            <a:endParaRPr lang="en-US">
              <a:solidFill>
                <a:srgbClr val="002060"/>
              </a:solidFill>
              <a:sym typeface="+mn-ea"/>
            </a:endParaRPr>
          </a:p>
          <a:p>
            <a:pPr lvl="1">
              <a:lnSpc>
                <a:spcPct val="130000"/>
              </a:lnSpc>
            </a:pPr>
            <a:r>
              <a:rPr lang="en-US">
                <a:solidFill>
                  <a:srgbClr val="002060"/>
                </a:solidFill>
                <a:sym typeface="+mn-ea"/>
              </a:rPr>
              <a:t>current_end_index=3</a:t>
            </a:r>
            <a:endParaRPr lang="en-US">
              <a:solidFill>
                <a:srgbClr val="002060"/>
              </a:solidFill>
              <a:sym typeface="+mn-ea"/>
            </a:endParaRPr>
          </a:p>
          <a:p>
            <a:pPr lvl="1">
              <a:lnSpc>
                <a:spcPct val="130000"/>
              </a:lnSpc>
            </a:pPr>
            <a:r>
              <a:rPr lang="en-US">
                <a:solidFill>
                  <a:srgbClr val="002060"/>
                </a:solidFill>
                <a:sym typeface="+mn-ea"/>
              </a:rPr>
              <a:t>current_sum = 6</a:t>
            </a:r>
            <a:endParaRPr lang="en-US">
              <a:solidFill>
                <a:srgbClr val="002060"/>
              </a:solidFill>
              <a:sym typeface="+mn-ea"/>
            </a:endParaRPr>
          </a:p>
          <a:p>
            <a:pPr lvl="1">
              <a:lnSpc>
                <a:spcPct val="130000"/>
              </a:lnSpc>
            </a:pPr>
            <a:r>
              <a:rPr lang="en-US">
                <a:solidFill>
                  <a:srgbClr val="002060"/>
                </a:solidFill>
                <a:sym typeface="+mn-ea"/>
              </a:rPr>
              <a:t>best_sum = 6</a:t>
            </a:r>
            <a:endParaRPr lang="en-US">
              <a:solidFill>
                <a:srgbClr val="002060"/>
              </a:solidFill>
              <a:sym typeface="+mn-ea"/>
            </a:endParaRPr>
          </a:p>
          <a:p>
            <a:pPr lvl="1">
              <a:lnSpc>
                <a:spcPct val="130000"/>
              </a:lnSpc>
            </a:pPr>
            <a:r>
              <a:rPr lang="en-US">
                <a:solidFill>
                  <a:srgbClr val="002060"/>
                </a:solidFill>
                <a:sym typeface="+mn-ea"/>
              </a:rPr>
              <a:t>best_start_index = 3</a:t>
            </a:r>
            <a:endParaRPr lang="en-US">
              <a:solidFill>
                <a:srgbClr val="002060"/>
              </a:solidFill>
              <a:sym typeface="+mn-ea"/>
            </a:endParaRPr>
          </a:p>
          <a:p>
            <a:pPr lvl="1">
              <a:lnSpc>
                <a:spcPct val="130000"/>
              </a:lnSpc>
            </a:pPr>
            <a:r>
              <a:rPr lang="en-US">
                <a:solidFill>
                  <a:srgbClr val="002060"/>
                </a:solidFill>
                <a:sym typeface="+mn-ea"/>
              </a:rPr>
              <a:t>best_end_index = 3</a:t>
            </a:r>
            <a:endParaRPr lang="en-US">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Solution Steps of the Problem</a:t>
            </a:r>
            <a:endParaRPr lang="en-US">
              <a:solidFill>
                <a:srgbClr val="FF0000"/>
              </a:solidFill>
            </a:endParaRPr>
          </a:p>
        </p:txBody>
      </p:sp>
      <p:sp>
        <p:nvSpPr>
          <p:cNvPr id="3" name="Content Placeholder 2"/>
          <p:cNvSpPr>
            <a:spLocks noGrp="1"/>
          </p:cNvSpPr>
          <p:nvPr>
            <p:ph idx="1"/>
          </p:nvPr>
        </p:nvSpPr>
        <p:spPr>
          <a:xfrm>
            <a:off x="290195" y="980440"/>
            <a:ext cx="11611610" cy="5608955"/>
          </a:xfrm>
        </p:spPr>
        <p:txBody>
          <a:bodyPr/>
          <a:p>
            <a:pPr>
              <a:lnSpc>
                <a:spcPct val="130000"/>
              </a:lnSpc>
            </a:pPr>
            <a:r>
              <a:rPr lang="en-US">
                <a:solidFill>
                  <a:srgbClr val="002060"/>
                </a:solidFill>
                <a:sym typeface="+mn-ea"/>
              </a:rPr>
              <a:t>Given array of elements : [2, -4, 6, -1, 3, -2]</a:t>
            </a:r>
            <a:endParaRPr lang="en-US">
              <a:solidFill>
                <a:srgbClr val="002060"/>
              </a:solidFill>
              <a:sym typeface="+mn-ea"/>
            </a:endParaRPr>
          </a:p>
          <a:p>
            <a:pPr>
              <a:lnSpc>
                <a:spcPct val="130000"/>
              </a:lnSpc>
            </a:pPr>
            <a:r>
              <a:rPr lang="en-US" b="1">
                <a:solidFill>
                  <a:srgbClr val="002060"/>
                </a:solidFill>
                <a:sym typeface="+mn-ea"/>
              </a:rPr>
              <a:t>Step 4: </a:t>
            </a:r>
            <a:r>
              <a:rPr lang="en-US">
                <a:solidFill>
                  <a:srgbClr val="002060"/>
                </a:solidFill>
                <a:sym typeface="+mn-ea"/>
              </a:rPr>
              <a:t>Next element (-1):  </a:t>
            </a:r>
            <a:endParaRPr lang="en-US">
              <a:solidFill>
                <a:srgbClr val="002060"/>
              </a:solidFill>
              <a:sym typeface="+mn-ea"/>
            </a:endParaRPr>
          </a:p>
          <a:p>
            <a:pPr lvl="1">
              <a:lnSpc>
                <a:spcPct val="130000"/>
              </a:lnSpc>
            </a:pPr>
            <a:r>
              <a:rPr lang="en-US">
                <a:solidFill>
                  <a:srgbClr val="002060"/>
                </a:solidFill>
                <a:sym typeface="+mn-ea"/>
              </a:rPr>
              <a:t>current_start_index=3</a:t>
            </a:r>
            <a:endParaRPr lang="en-US">
              <a:solidFill>
                <a:srgbClr val="002060"/>
              </a:solidFill>
              <a:sym typeface="+mn-ea"/>
            </a:endParaRPr>
          </a:p>
          <a:p>
            <a:pPr lvl="1">
              <a:lnSpc>
                <a:spcPct val="130000"/>
              </a:lnSpc>
            </a:pPr>
            <a:r>
              <a:rPr lang="en-US">
                <a:solidFill>
                  <a:srgbClr val="002060"/>
                </a:solidFill>
                <a:sym typeface="+mn-ea"/>
              </a:rPr>
              <a:t>current_end_index=4</a:t>
            </a:r>
            <a:endParaRPr lang="en-US">
              <a:solidFill>
                <a:srgbClr val="002060"/>
              </a:solidFill>
              <a:sym typeface="+mn-ea"/>
            </a:endParaRPr>
          </a:p>
          <a:p>
            <a:pPr lvl="1">
              <a:lnSpc>
                <a:spcPct val="130000"/>
              </a:lnSpc>
            </a:pPr>
            <a:r>
              <a:rPr lang="en-US">
                <a:solidFill>
                  <a:srgbClr val="002060"/>
                </a:solidFill>
                <a:sym typeface="+mn-ea"/>
              </a:rPr>
              <a:t>current_sum = 5</a:t>
            </a:r>
            <a:endParaRPr lang="en-US">
              <a:solidFill>
                <a:srgbClr val="002060"/>
              </a:solidFill>
              <a:sym typeface="+mn-ea"/>
            </a:endParaRPr>
          </a:p>
          <a:p>
            <a:pPr lvl="1">
              <a:lnSpc>
                <a:spcPct val="130000"/>
              </a:lnSpc>
            </a:pPr>
            <a:r>
              <a:rPr lang="en-US">
                <a:solidFill>
                  <a:srgbClr val="002060"/>
                </a:solidFill>
                <a:sym typeface="+mn-ea"/>
              </a:rPr>
              <a:t>best_sum = 6</a:t>
            </a:r>
            <a:endParaRPr lang="en-US">
              <a:solidFill>
                <a:srgbClr val="002060"/>
              </a:solidFill>
              <a:sym typeface="+mn-ea"/>
            </a:endParaRPr>
          </a:p>
          <a:p>
            <a:pPr lvl="1">
              <a:lnSpc>
                <a:spcPct val="130000"/>
              </a:lnSpc>
            </a:pPr>
            <a:r>
              <a:rPr lang="en-US">
                <a:solidFill>
                  <a:srgbClr val="002060"/>
                </a:solidFill>
                <a:sym typeface="+mn-ea"/>
              </a:rPr>
              <a:t>best_start_index = 3</a:t>
            </a:r>
            <a:endParaRPr lang="en-US">
              <a:solidFill>
                <a:srgbClr val="002060"/>
              </a:solidFill>
              <a:sym typeface="+mn-ea"/>
            </a:endParaRPr>
          </a:p>
          <a:p>
            <a:pPr lvl="1">
              <a:lnSpc>
                <a:spcPct val="130000"/>
              </a:lnSpc>
            </a:pPr>
            <a:r>
              <a:rPr lang="en-US">
                <a:solidFill>
                  <a:srgbClr val="002060"/>
                </a:solidFill>
                <a:sym typeface="+mn-ea"/>
              </a:rPr>
              <a:t>best_end_index = 3</a:t>
            </a:r>
            <a:endParaRPr lang="en-US">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Solution Steps of the Problem</a:t>
            </a:r>
            <a:endParaRPr lang="en-US">
              <a:solidFill>
                <a:srgbClr val="FF0000"/>
              </a:solidFill>
            </a:endParaRPr>
          </a:p>
        </p:txBody>
      </p:sp>
      <p:sp>
        <p:nvSpPr>
          <p:cNvPr id="3" name="Content Placeholder 2"/>
          <p:cNvSpPr>
            <a:spLocks noGrp="1"/>
          </p:cNvSpPr>
          <p:nvPr>
            <p:ph idx="1"/>
          </p:nvPr>
        </p:nvSpPr>
        <p:spPr>
          <a:xfrm>
            <a:off x="290195" y="980440"/>
            <a:ext cx="11611610" cy="5608955"/>
          </a:xfrm>
        </p:spPr>
        <p:txBody>
          <a:bodyPr/>
          <a:p>
            <a:pPr>
              <a:lnSpc>
                <a:spcPct val="130000"/>
              </a:lnSpc>
            </a:pPr>
            <a:r>
              <a:rPr lang="en-US">
                <a:solidFill>
                  <a:srgbClr val="002060"/>
                </a:solidFill>
                <a:sym typeface="+mn-ea"/>
              </a:rPr>
              <a:t>Given array of elements : [2, -4, 6, -1, 3, -2]</a:t>
            </a:r>
            <a:endParaRPr lang="en-US">
              <a:solidFill>
                <a:srgbClr val="002060"/>
              </a:solidFill>
              <a:sym typeface="+mn-ea"/>
            </a:endParaRPr>
          </a:p>
          <a:p>
            <a:pPr>
              <a:lnSpc>
                <a:spcPct val="130000"/>
              </a:lnSpc>
            </a:pPr>
            <a:r>
              <a:rPr lang="en-US" b="1">
                <a:solidFill>
                  <a:srgbClr val="002060"/>
                </a:solidFill>
                <a:sym typeface="+mn-ea"/>
              </a:rPr>
              <a:t>Step 5: </a:t>
            </a:r>
            <a:r>
              <a:rPr lang="en-US">
                <a:solidFill>
                  <a:srgbClr val="002060"/>
                </a:solidFill>
                <a:sym typeface="+mn-ea"/>
              </a:rPr>
              <a:t>Next element (3):  </a:t>
            </a:r>
            <a:endParaRPr lang="en-US">
              <a:solidFill>
                <a:srgbClr val="002060"/>
              </a:solidFill>
              <a:sym typeface="+mn-ea"/>
            </a:endParaRPr>
          </a:p>
          <a:p>
            <a:pPr lvl="1">
              <a:lnSpc>
                <a:spcPct val="130000"/>
              </a:lnSpc>
            </a:pPr>
            <a:r>
              <a:rPr lang="en-US">
                <a:solidFill>
                  <a:srgbClr val="002060"/>
                </a:solidFill>
                <a:sym typeface="+mn-ea"/>
              </a:rPr>
              <a:t>current_start_index=3</a:t>
            </a:r>
            <a:endParaRPr lang="en-US">
              <a:solidFill>
                <a:srgbClr val="002060"/>
              </a:solidFill>
              <a:sym typeface="+mn-ea"/>
            </a:endParaRPr>
          </a:p>
          <a:p>
            <a:pPr lvl="1">
              <a:lnSpc>
                <a:spcPct val="130000"/>
              </a:lnSpc>
            </a:pPr>
            <a:r>
              <a:rPr lang="en-US">
                <a:solidFill>
                  <a:srgbClr val="002060"/>
                </a:solidFill>
                <a:sym typeface="+mn-ea"/>
              </a:rPr>
              <a:t>current_end_index=5</a:t>
            </a:r>
            <a:endParaRPr lang="en-US">
              <a:solidFill>
                <a:srgbClr val="002060"/>
              </a:solidFill>
              <a:sym typeface="+mn-ea"/>
            </a:endParaRPr>
          </a:p>
          <a:p>
            <a:pPr lvl="1">
              <a:lnSpc>
                <a:spcPct val="130000"/>
              </a:lnSpc>
            </a:pPr>
            <a:r>
              <a:rPr lang="en-US">
                <a:solidFill>
                  <a:srgbClr val="002060"/>
                </a:solidFill>
                <a:sym typeface="+mn-ea"/>
              </a:rPr>
              <a:t>current_sum = 8</a:t>
            </a:r>
            <a:endParaRPr lang="en-US">
              <a:solidFill>
                <a:srgbClr val="002060"/>
              </a:solidFill>
              <a:sym typeface="+mn-ea"/>
            </a:endParaRPr>
          </a:p>
          <a:p>
            <a:pPr lvl="1">
              <a:lnSpc>
                <a:spcPct val="130000"/>
              </a:lnSpc>
            </a:pPr>
            <a:r>
              <a:rPr lang="en-US">
                <a:solidFill>
                  <a:srgbClr val="002060"/>
                </a:solidFill>
                <a:sym typeface="+mn-ea"/>
              </a:rPr>
              <a:t>best_sum = 8</a:t>
            </a:r>
            <a:endParaRPr lang="en-US">
              <a:solidFill>
                <a:srgbClr val="002060"/>
              </a:solidFill>
              <a:sym typeface="+mn-ea"/>
            </a:endParaRPr>
          </a:p>
          <a:p>
            <a:pPr lvl="1">
              <a:lnSpc>
                <a:spcPct val="130000"/>
              </a:lnSpc>
            </a:pPr>
            <a:r>
              <a:rPr lang="en-US">
                <a:solidFill>
                  <a:srgbClr val="002060"/>
                </a:solidFill>
                <a:sym typeface="+mn-ea"/>
              </a:rPr>
              <a:t>best_start_index = 3</a:t>
            </a:r>
            <a:endParaRPr lang="en-US">
              <a:solidFill>
                <a:srgbClr val="002060"/>
              </a:solidFill>
              <a:sym typeface="+mn-ea"/>
            </a:endParaRPr>
          </a:p>
          <a:p>
            <a:pPr lvl="1">
              <a:lnSpc>
                <a:spcPct val="130000"/>
              </a:lnSpc>
            </a:pPr>
            <a:r>
              <a:rPr lang="en-US">
                <a:solidFill>
                  <a:srgbClr val="002060"/>
                </a:solidFill>
                <a:sym typeface="+mn-ea"/>
              </a:rPr>
              <a:t>best_end_index = 5</a:t>
            </a:r>
            <a:endParaRPr lang="en-US">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Solution Steps of the Problem</a:t>
            </a:r>
            <a:endParaRPr lang="en-US">
              <a:solidFill>
                <a:srgbClr val="FF0000"/>
              </a:solidFill>
            </a:endParaRPr>
          </a:p>
        </p:txBody>
      </p:sp>
      <p:sp>
        <p:nvSpPr>
          <p:cNvPr id="3" name="Content Placeholder 2"/>
          <p:cNvSpPr>
            <a:spLocks noGrp="1"/>
          </p:cNvSpPr>
          <p:nvPr>
            <p:ph idx="1"/>
          </p:nvPr>
        </p:nvSpPr>
        <p:spPr>
          <a:xfrm>
            <a:off x="290195" y="980440"/>
            <a:ext cx="11611610" cy="5608955"/>
          </a:xfrm>
        </p:spPr>
        <p:txBody>
          <a:bodyPr/>
          <a:p>
            <a:pPr>
              <a:lnSpc>
                <a:spcPct val="130000"/>
              </a:lnSpc>
            </a:pPr>
            <a:r>
              <a:rPr lang="en-US">
                <a:solidFill>
                  <a:srgbClr val="002060"/>
                </a:solidFill>
                <a:sym typeface="+mn-ea"/>
              </a:rPr>
              <a:t>Given array of elements : [2, -4, 6, -1, 3, -2]</a:t>
            </a:r>
            <a:endParaRPr lang="en-US">
              <a:solidFill>
                <a:srgbClr val="002060"/>
              </a:solidFill>
              <a:sym typeface="+mn-ea"/>
            </a:endParaRPr>
          </a:p>
          <a:p>
            <a:pPr>
              <a:lnSpc>
                <a:spcPct val="130000"/>
              </a:lnSpc>
            </a:pPr>
            <a:r>
              <a:rPr lang="en-US" b="1">
                <a:solidFill>
                  <a:srgbClr val="002060"/>
                </a:solidFill>
                <a:sym typeface="+mn-ea"/>
              </a:rPr>
              <a:t>Step 6: </a:t>
            </a:r>
            <a:r>
              <a:rPr lang="en-US">
                <a:solidFill>
                  <a:srgbClr val="002060"/>
                </a:solidFill>
                <a:sym typeface="+mn-ea"/>
              </a:rPr>
              <a:t>Next element (-2):  </a:t>
            </a:r>
            <a:endParaRPr lang="en-US">
              <a:solidFill>
                <a:srgbClr val="002060"/>
              </a:solidFill>
              <a:sym typeface="+mn-ea"/>
            </a:endParaRPr>
          </a:p>
          <a:p>
            <a:pPr lvl="1">
              <a:lnSpc>
                <a:spcPct val="130000"/>
              </a:lnSpc>
            </a:pPr>
            <a:r>
              <a:rPr lang="en-US">
                <a:solidFill>
                  <a:srgbClr val="002060"/>
                </a:solidFill>
                <a:sym typeface="+mn-ea"/>
              </a:rPr>
              <a:t>current_start_index=3</a:t>
            </a:r>
            <a:endParaRPr lang="en-US">
              <a:solidFill>
                <a:srgbClr val="002060"/>
              </a:solidFill>
              <a:sym typeface="+mn-ea"/>
            </a:endParaRPr>
          </a:p>
          <a:p>
            <a:pPr lvl="1">
              <a:lnSpc>
                <a:spcPct val="130000"/>
              </a:lnSpc>
            </a:pPr>
            <a:r>
              <a:rPr lang="en-US">
                <a:solidFill>
                  <a:srgbClr val="002060"/>
                </a:solidFill>
                <a:sym typeface="+mn-ea"/>
              </a:rPr>
              <a:t>current_end_index=6</a:t>
            </a:r>
            <a:endParaRPr lang="en-US">
              <a:solidFill>
                <a:srgbClr val="002060"/>
              </a:solidFill>
              <a:sym typeface="+mn-ea"/>
            </a:endParaRPr>
          </a:p>
          <a:p>
            <a:pPr lvl="1">
              <a:lnSpc>
                <a:spcPct val="130000"/>
              </a:lnSpc>
            </a:pPr>
            <a:r>
              <a:rPr lang="en-US">
                <a:solidFill>
                  <a:srgbClr val="002060"/>
                </a:solidFill>
                <a:sym typeface="+mn-ea"/>
              </a:rPr>
              <a:t>current_sum = 6</a:t>
            </a:r>
            <a:endParaRPr lang="en-US">
              <a:solidFill>
                <a:srgbClr val="002060"/>
              </a:solidFill>
              <a:sym typeface="+mn-ea"/>
            </a:endParaRPr>
          </a:p>
          <a:p>
            <a:pPr lvl="1">
              <a:lnSpc>
                <a:spcPct val="130000"/>
              </a:lnSpc>
            </a:pPr>
            <a:r>
              <a:rPr lang="en-US">
                <a:solidFill>
                  <a:srgbClr val="002060"/>
                </a:solidFill>
                <a:sym typeface="+mn-ea"/>
              </a:rPr>
              <a:t>best_sum = 8</a:t>
            </a:r>
            <a:endParaRPr lang="en-US">
              <a:solidFill>
                <a:srgbClr val="002060"/>
              </a:solidFill>
              <a:sym typeface="+mn-ea"/>
            </a:endParaRPr>
          </a:p>
          <a:p>
            <a:pPr lvl="1">
              <a:lnSpc>
                <a:spcPct val="130000"/>
              </a:lnSpc>
            </a:pPr>
            <a:r>
              <a:rPr lang="en-US">
                <a:solidFill>
                  <a:srgbClr val="002060"/>
                </a:solidFill>
                <a:sym typeface="+mn-ea"/>
              </a:rPr>
              <a:t>best_start_index = 3</a:t>
            </a:r>
            <a:endParaRPr lang="en-US">
              <a:solidFill>
                <a:srgbClr val="002060"/>
              </a:solidFill>
              <a:sym typeface="+mn-ea"/>
            </a:endParaRPr>
          </a:p>
          <a:p>
            <a:pPr lvl="1">
              <a:lnSpc>
                <a:spcPct val="130000"/>
              </a:lnSpc>
            </a:pPr>
            <a:r>
              <a:rPr lang="en-US">
                <a:solidFill>
                  <a:srgbClr val="002060"/>
                </a:solidFill>
                <a:sym typeface="+mn-ea"/>
              </a:rPr>
              <a:t>best_end_index = 5</a:t>
            </a:r>
            <a:endParaRPr lang="en-US">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Solution Steps of the Problem</a:t>
            </a:r>
            <a:endParaRPr lang="en-US">
              <a:solidFill>
                <a:srgbClr val="FF0000"/>
              </a:solidFill>
            </a:endParaRPr>
          </a:p>
        </p:txBody>
      </p:sp>
      <p:sp>
        <p:nvSpPr>
          <p:cNvPr id="3" name="Content Placeholder 2"/>
          <p:cNvSpPr>
            <a:spLocks noGrp="1"/>
          </p:cNvSpPr>
          <p:nvPr>
            <p:ph idx="1"/>
          </p:nvPr>
        </p:nvSpPr>
        <p:spPr>
          <a:xfrm>
            <a:off x="290195" y="980440"/>
            <a:ext cx="11611610" cy="5608955"/>
          </a:xfrm>
        </p:spPr>
        <p:txBody>
          <a:bodyPr/>
          <a:p>
            <a:pPr>
              <a:lnSpc>
                <a:spcPct val="130000"/>
              </a:lnSpc>
            </a:pPr>
            <a:r>
              <a:rPr lang="en-US" sz="3400" b="1">
                <a:solidFill>
                  <a:srgbClr val="002060"/>
                </a:solidFill>
                <a:sym typeface="+mn-ea"/>
              </a:rPr>
              <a:t>Output </a:t>
            </a:r>
            <a:endParaRPr lang="en-US" sz="3400">
              <a:solidFill>
                <a:srgbClr val="002060"/>
              </a:solidFill>
              <a:sym typeface="+mn-ea"/>
            </a:endParaRPr>
          </a:p>
          <a:p>
            <a:pPr>
              <a:lnSpc>
                <a:spcPct val="130000"/>
              </a:lnSpc>
            </a:pPr>
            <a:r>
              <a:rPr lang="en-US" sz="3400">
                <a:solidFill>
                  <a:srgbClr val="002060"/>
                </a:solidFill>
                <a:sym typeface="+mn-ea"/>
              </a:rPr>
              <a:t>best_sum = 8,   best_start_index = 3, best_end_index = 5</a:t>
            </a:r>
            <a:endParaRPr lang="en-US" sz="3400">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60007"/>
            <a:ext cx="10972800" cy="1143000"/>
          </a:xfrm>
        </p:spPr>
        <p:txBody>
          <a:bodyPr/>
          <a:p>
            <a:r>
              <a:rPr lang="en-US">
                <a:solidFill>
                  <a:srgbClr val="FF0000"/>
                </a:solidFill>
                <a:sym typeface="+mn-ea"/>
              </a:rPr>
              <a:t>Inquiry-based learning</a:t>
            </a:r>
            <a:endParaRPr lang="en-US">
              <a:solidFill>
                <a:srgbClr val="FF0000"/>
              </a:solidFill>
              <a:sym typeface="+mn-ea"/>
            </a:endParaRPr>
          </a:p>
        </p:txBody>
      </p:sp>
      <p:sp>
        <p:nvSpPr>
          <p:cNvPr id="3" name="Content Placeholder 2"/>
          <p:cNvSpPr>
            <a:spLocks noGrp="1"/>
          </p:cNvSpPr>
          <p:nvPr>
            <p:ph idx="1"/>
          </p:nvPr>
        </p:nvSpPr>
        <p:spPr>
          <a:xfrm>
            <a:off x="117475" y="746760"/>
            <a:ext cx="11978005" cy="5608955"/>
          </a:xfrm>
        </p:spPr>
        <p:txBody>
          <a:bodyPr/>
          <a:p>
            <a:pPr>
              <a:lnSpc>
                <a:spcPct val="130000"/>
              </a:lnSpc>
            </a:pPr>
            <a:r>
              <a:rPr lang="en-US" sz="4000">
                <a:solidFill>
                  <a:srgbClr val="002060"/>
                </a:solidFill>
                <a:sym typeface="+mn-ea"/>
              </a:rPr>
              <a:t>Trains students to reverse-engineer the thinking process behind a solution, not just apply it</a:t>
            </a:r>
            <a:endParaRPr lang="en-US" sz="4000">
              <a:solidFill>
                <a:srgbClr val="002060"/>
              </a:solidFill>
              <a:sym typeface="+mn-ea"/>
            </a:endParaRPr>
          </a:p>
          <a:p>
            <a:pPr>
              <a:lnSpc>
                <a:spcPct val="130000"/>
              </a:lnSpc>
            </a:pPr>
            <a:r>
              <a:rPr lang="en-US" sz="4000">
                <a:solidFill>
                  <a:srgbClr val="002060"/>
                </a:solidFill>
                <a:sym typeface="+mn-ea"/>
              </a:rPr>
              <a:t>Learners should ask themselves:</a:t>
            </a:r>
            <a:endParaRPr lang="en-US" sz="4000">
              <a:solidFill>
                <a:srgbClr val="002060"/>
              </a:solidFill>
              <a:sym typeface="+mn-ea"/>
            </a:endParaRPr>
          </a:p>
          <a:p>
            <a:pPr lvl="1">
              <a:lnSpc>
                <a:spcPct val="130000"/>
              </a:lnSpc>
            </a:pPr>
            <a:r>
              <a:rPr lang="en-US" sz="4000">
                <a:solidFill>
                  <a:srgbClr val="002060"/>
                </a:solidFill>
                <a:sym typeface="+mn-ea"/>
              </a:rPr>
              <a:t>What is being optimized?</a:t>
            </a:r>
            <a:endParaRPr lang="en-US" sz="4000">
              <a:solidFill>
                <a:srgbClr val="002060"/>
              </a:solidFill>
              <a:sym typeface="+mn-ea"/>
            </a:endParaRPr>
          </a:p>
          <a:p>
            <a:pPr lvl="1">
              <a:lnSpc>
                <a:spcPct val="130000"/>
              </a:lnSpc>
            </a:pPr>
            <a:r>
              <a:rPr lang="en-US" sz="4000">
                <a:solidFill>
                  <a:srgbClr val="002060"/>
                </a:solidFill>
                <a:sym typeface="+mn-ea"/>
              </a:rPr>
              <a:t>What variables change between steps</a:t>
            </a:r>
            <a:endParaRPr lang="en-US" sz="4000">
              <a:solidFill>
                <a:srgbClr val="002060"/>
              </a:solidFill>
              <a:sym typeface="+mn-ea"/>
            </a:endParaRPr>
          </a:p>
          <a:p>
            <a:pPr lvl="1">
              <a:lnSpc>
                <a:spcPct val="130000"/>
              </a:lnSpc>
            </a:pPr>
            <a:r>
              <a:rPr lang="en-US" sz="4000">
                <a:solidFill>
                  <a:srgbClr val="002060"/>
                </a:solidFill>
                <a:sym typeface="+mn-ea"/>
              </a:rPr>
              <a:t>What rules connect the steps?</a:t>
            </a:r>
            <a:endParaRPr lang="en-US" sz="4000">
              <a:solidFill>
                <a:srgbClr val="002060"/>
              </a:solidFill>
              <a:sym typeface="+mn-ea"/>
            </a:endParaRPr>
          </a:p>
          <a:p>
            <a:pPr lvl="0">
              <a:lnSpc>
                <a:spcPct val="130000"/>
              </a:lnSpc>
            </a:pPr>
            <a:endParaRPr lang="en-US" sz="4000">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60007"/>
            <a:ext cx="10972800" cy="1143000"/>
          </a:xfrm>
        </p:spPr>
        <p:txBody>
          <a:bodyPr/>
          <a:p>
            <a:r>
              <a:rPr lang="en-US">
                <a:solidFill>
                  <a:srgbClr val="FF0000"/>
                </a:solidFill>
                <a:sym typeface="+mn-ea"/>
              </a:rPr>
              <a:t>Inquiry-based learning</a:t>
            </a:r>
            <a:endParaRPr lang="en-US">
              <a:solidFill>
                <a:srgbClr val="FF0000"/>
              </a:solidFill>
              <a:sym typeface="+mn-ea"/>
            </a:endParaRPr>
          </a:p>
        </p:txBody>
      </p:sp>
      <p:sp>
        <p:nvSpPr>
          <p:cNvPr id="3" name="Content Placeholder 2"/>
          <p:cNvSpPr>
            <a:spLocks noGrp="1"/>
          </p:cNvSpPr>
          <p:nvPr>
            <p:ph idx="1"/>
          </p:nvPr>
        </p:nvSpPr>
        <p:spPr>
          <a:xfrm>
            <a:off x="117475" y="746760"/>
            <a:ext cx="11978005" cy="5608955"/>
          </a:xfrm>
        </p:spPr>
        <p:txBody>
          <a:bodyPr/>
          <a:p>
            <a:pPr>
              <a:lnSpc>
                <a:spcPct val="150000"/>
              </a:lnSpc>
            </a:pPr>
            <a:r>
              <a:rPr lang="en-US" sz="4000">
                <a:solidFill>
                  <a:srgbClr val="002060"/>
                </a:solidFill>
                <a:sym typeface="+mn-ea"/>
              </a:rPr>
              <a:t>Students move from “What is the answer?” to “How does the system think?”</a:t>
            </a:r>
            <a:endParaRPr lang="en-US" sz="4000">
              <a:solidFill>
                <a:srgbClr val="002060"/>
              </a:solidFill>
              <a:sym typeface="+mn-ea"/>
            </a:endParaRPr>
          </a:p>
          <a:p>
            <a:pPr lvl="0">
              <a:lnSpc>
                <a:spcPct val="150000"/>
              </a:lnSpc>
            </a:pPr>
            <a:r>
              <a:rPr lang="en-US" sz="4000">
                <a:solidFill>
                  <a:srgbClr val="002060"/>
                </a:solidFill>
                <a:sym typeface="+mn-ea"/>
              </a:rPr>
              <a:t>They build deeper understanding and transferable problem-solving skills</a:t>
            </a:r>
            <a:endParaRPr lang="en-US" sz="4000">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60007"/>
            <a:ext cx="10972800" cy="1143000"/>
          </a:xfrm>
        </p:spPr>
        <p:txBody>
          <a:bodyPr/>
          <a:p>
            <a:r>
              <a:rPr lang="en-US">
                <a:solidFill>
                  <a:srgbClr val="FF0000"/>
                </a:solidFill>
                <a:sym typeface="+mn-ea"/>
              </a:rPr>
              <a:t>Reverse Scaffolding (Definition-Last)</a:t>
            </a:r>
            <a:endParaRPr lang="en-US">
              <a:solidFill>
                <a:srgbClr val="FF0000"/>
              </a:solidFill>
              <a:sym typeface="+mn-ea"/>
            </a:endParaRPr>
          </a:p>
        </p:txBody>
      </p:sp>
      <p:sp>
        <p:nvSpPr>
          <p:cNvPr id="3" name="Content Placeholder 2"/>
          <p:cNvSpPr>
            <a:spLocks noGrp="1"/>
          </p:cNvSpPr>
          <p:nvPr>
            <p:ph idx="1"/>
          </p:nvPr>
        </p:nvSpPr>
        <p:spPr>
          <a:xfrm>
            <a:off x="117475" y="1082675"/>
            <a:ext cx="11978005" cy="5273040"/>
          </a:xfrm>
        </p:spPr>
        <p:txBody>
          <a:bodyPr/>
          <a:p>
            <a:pPr>
              <a:lnSpc>
                <a:spcPct val="140000"/>
              </a:lnSpc>
            </a:pPr>
            <a:r>
              <a:rPr lang="en-US" sz="4000">
                <a:solidFill>
                  <a:srgbClr val="002060"/>
                </a:solidFill>
                <a:sym typeface="+mn-ea"/>
              </a:rPr>
              <a:t>In traditional teaching: We give the problem definition, then the algorithm, then students trace examples.</a:t>
            </a:r>
            <a:endParaRPr lang="en-US" sz="4000">
              <a:solidFill>
                <a:srgbClr val="002060"/>
              </a:solidFill>
              <a:sym typeface="+mn-ea"/>
            </a:endParaRPr>
          </a:p>
          <a:p>
            <a:pPr>
              <a:lnSpc>
                <a:spcPct val="140000"/>
              </a:lnSpc>
            </a:pPr>
            <a:r>
              <a:rPr lang="en-US" sz="4000">
                <a:solidFill>
                  <a:srgbClr val="002060"/>
                </a:solidFill>
                <a:sym typeface="+mn-ea"/>
              </a:rPr>
              <a:t>In reverse scaffolding: Students first see the steps or execution, and only later arrive at the definition themselves.</a:t>
            </a:r>
            <a:endParaRPr lang="en-US" sz="4000">
              <a:solidFill>
                <a:srgbClr val="002060"/>
              </a:solidFill>
              <a:sym typeface="+mn-ea"/>
            </a:endParaRPr>
          </a:p>
          <a:p>
            <a:pPr>
              <a:lnSpc>
                <a:spcPct val="140000"/>
              </a:lnSpc>
            </a:pPr>
            <a:endParaRPr lang="en-US" sz="4000">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60007"/>
            <a:ext cx="10972800" cy="1143000"/>
          </a:xfrm>
        </p:spPr>
        <p:txBody>
          <a:bodyPr/>
          <a:p>
            <a:r>
              <a:rPr lang="en-US">
                <a:solidFill>
                  <a:srgbClr val="FF0000"/>
                </a:solidFill>
                <a:sym typeface="+mn-ea"/>
              </a:rPr>
              <a:t>Reverse Scaffolding (Definition-Last)</a:t>
            </a:r>
            <a:endParaRPr lang="en-US">
              <a:solidFill>
                <a:srgbClr val="FF0000"/>
              </a:solidFill>
              <a:sym typeface="+mn-ea"/>
            </a:endParaRPr>
          </a:p>
        </p:txBody>
      </p:sp>
      <p:sp>
        <p:nvSpPr>
          <p:cNvPr id="3" name="Content Placeholder 2"/>
          <p:cNvSpPr>
            <a:spLocks noGrp="1"/>
          </p:cNvSpPr>
          <p:nvPr>
            <p:ph idx="1"/>
          </p:nvPr>
        </p:nvSpPr>
        <p:spPr>
          <a:xfrm>
            <a:off x="117475" y="1082675"/>
            <a:ext cx="11978005" cy="5273040"/>
          </a:xfrm>
        </p:spPr>
        <p:txBody>
          <a:bodyPr/>
          <a:p>
            <a:pPr>
              <a:lnSpc>
                <a:spcPct val="130000"/>
              </a:lnSpc>
            </a:pPr>
            <a:r>
              <a:rPr lang="en-US" sz="4000">
                <a:solidFill>
                  <a:srgbClr val="002060"/>
                </a:solidFill>
                <a:sym typeface="+mn-ea"/>
              </a:rPr>
              <a:t>When students see only the step-by-step process:</a:t>
            </a:r>
            <a:endParaRPr lang="en-US" sz="4000">
              <a:solidFill>
                <a:srgbClr val="002060"/>
              </a:solidFill>
              <a:sym typeface="+mn-ea"/>
            </a:endParaRPr>
          </a:p>
          <a:p>
            <a:pPr lvl="1">
              <a:lnSpc>
                <a:spcPct val="130000"/>
              </a:lnSpc>
            </a:pPr>
            <a:r>
              <a:rPr lang="en-US" sz="3600">
                <a:solidFill>
                  <a:srgbClr val="002060"/>
                </a:solidFill>
                <a:sym typeface="+mn-ea"/>
              </a:rPr>
              <a:t>They are forced to think: “What is happening here?”</a:t>
            </a:r>
            <a:endParaRPr lang="en-US" sz="3600">
              <a:solidFill>
                <a:srgbClr val="002060"/>
              </a:solidFill>
              <a:sym typeface="+mn-ea"/>
            </a:endParaRPr>
          </a:p>
          <a:p>
            <a:pPr lvl="1">
              <a:lnSpc>
                <a:spcPct val="130000"/>
              </a:lnSpc>
            </a:pPr>
            <a:r>
              <a:rPr lang="en-US" sz="3600">
                <a:solidFill>
                  <a:srgbClr val="002060"/>
                </a:solidFill>
                <a:sym typeface="+mn-ea"/>
              </a:rPr>
              <a:t>They try to infer the rule instead of recalling a memorized one</a:t>
            </a:r>
            <a:endParaRPr lang="en-US" sz="3600">
              <a:solidFill>
                <a:srgbClr val="002060"/>
              </a:solidFill>
              <a:sym typeface="+mn-ea"/>
            </a:endParaRPr>
          </a:p>
          <a:p>
            <a:pPr lvl="1">
              <a:lnSpc>
                <a:spcPct val="130000"/>
              </a:lnSpc>
            </a:pPr>
            <a:r>
              <a:rPr lang="en-US" sz="3600">
                <a:solidFill>
                  <a:srgbClr val="002060"/>
                </a:solidFill>
                <a:sym typeface="+mn-ea"/>
              </a:rPr>
              <a:t>This builds a mental model, not just memory</a:t>
            </a:r>
            <a:endParaRPr lang="en-US" sz="3600">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Normalization</a:t>
            </a:r>
            <a:endParaRPr lang="en-US">
              <a:solidFill>
                <a:srgbClr val="FF0000"/>
              </a:solidFill>
            </a:endParaRPr>
          </a:p>
        </p:txBody>
      </p:sp>
      <p:sp>
        <p:nvSpPr>
          <p:cNvPr id="3" name="Content Placeholder 2"/>
          <p:cNvSpPr>
            <a:spLocks noGrp="1"/>
          </p:cNvSpPr>
          <p:nvPr>
            <p:ph idx="1"/>
          </p:nvPr>
        </p:nvSpPr>
        <p:spPr>
          <a:xfrm>
            <a:off x="290195" y="980440"/>
            <a:ext cx="11611610" cy="5608955"/>
          </a:xfrm>
        </p:spPr>
        <p:txBody>
          <a:bodyPr/>
          <a:p>
            <a:pPr>
              <a:lnSpc>
                <a:spcPct val="150000"/>
              </a:lnSpc>
            </a:pPr>
            <a:r>
              <a:rPr lang="en-US">
                <a:solidFill>
                  <a:srgbClr val="002060"/>
                </a:solidFill>
                <a:sym typeface="+mn-ea"/>
              </a:rPr>
              <a:t>You are developing a system that collects readings from industrial sensors in a factory. Before storing or analyzing the data, the system automatically normalizes the sensor values. Given the original sensor readings and the transformed (normalized) values produced by the system, determine the normalization technique used and code it</a:t>
            </a:r>
            <a:endParaRPr lang="en-US">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Normalization</a:t>
            </a:r>
            <a:endParaRPr lang="en-US">
              <a:solidFill>
                <a:srgbClr val="FF0000"/>
              </a:solidFill>
            </a:endParaRPr>
          </a:p>
        </p:txBody>
      </p:sp>
      <p:sp>
        <p:nvSpPr>
          <p:cNvPr id="3" name="Content Placeholder 2"/>
          <p:cNvSpPr>
            <a:spLocks noGrp="1"/>
          </p:cNvSpPr>
          <p:nvPr>
            <p:ph idx="1"/>
          </p:nvPr>
        </p:nvSpPr>
        <p:spPr>
          <a:xfrm>
            <a:off x="290195" y="980440"/>
            <a:ext cx="11611610" cy="5608955"/>
          </a:xfrm>
        </p:spPr>
        <p:txBody>
          <a:bodyPr/>
          <a:p>
            <a:pPr>
              <a:lnSpc>
                <a:spcPct val="150000"/>
              </a:lnSpc>
            </a:pPr>
            <a:r>
              <a:rPr lang="en-US">
                <a:solidFill>
                  <a:srgbClr val="002060"/>
                </a:solidFill>
                <a:sym typeface="+mn-ea"/>
              </a:rPr>
              <a:t>Original Data:   [20, 40, 60, 80]</a:t>
            </a:r>
            <a:endParaRPr lang="en-US">
              <a:solidFill>
                <a:srgbClr val="002060"/>
              </a:solidFill>
              <a:sym typeface="+mn-ea"/>
            </a:endParaRPr>
          </a:p>
          <a:p>
            <a:pPr>
              <a:lnSpc>
                <a:spcPct val="150000"/>
              </a:lnSpc>
            </a:pPr>
            <a:r>
              <a:rPr lang="en-US">
                <a:solidFill>
                  <a:srgbClr val="002060"/>
                </a:solidFill>
                <a:sym typeface="+mn-ea"/>
              </a:rPr>
              <a:t>Transformed Data: [0, 0.33, 0.67, 1]</a:t>
            </a:r>
            <a:endParaRPr lang="en-US">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Find Missing Data using Heat Map</a:t>
            </a:r>
            <a:endParaRPr lang="en-US">
              <a:solidFill>
                <a:srgbClr val="FF0000"/>
              </a:solidFill>
            </a:endParaRPr>
          </a:p>
        </p:txBody>
      </p:sp>
      <p:pic>
        <p:nvPicPr>
          <p:cNvPr id="4" name="Picture 3"/>
          <p:cNvPicPr>
            <a:picLocks noChangeAspect="1"/>
          </p:cNvPicPr>
          <p:nvPr/>
        </p:nvPicPr>
        <p:blipFill>
          <a:blip r:embed="rId1"/>
          <a:stretch>
            <a:fillRect/>
          </a:stretch>
        </p:blipFill>
        <p:spPr>
          <a:xfrm>
            <a:off x="1095375" y="1070610"/>
            <a:ext cx="6463665" cy="4617085"/>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19367"/>
            <a:ext cx="10972800" cy="1143000"/>
          </a:xfrm>
        </p:spPr>
        <p:txBody>
          <a:bodyPr/>
          <a:p>
            <a:r>
              <a:rPr lang="en-US">
                <a:solidFill>
                  <a:srgbClr val="FF0000"/>
                </a:solidFill>
                <a:sym typeface="+mn-ea"/>
              </a:rPr>
              <a:t>Find Missing Data using Heat Map</a:t>
            </a:r>
            <a:endParaRPr lang="en-US">
              <a:solidFill>
                <a:srgbClr val="FF0000"/>
              </a:solidFill>
            </a:endParaRPr>
          </a:p>
        </p:txBody>
      </p:sp>
      <p:graphicFrame>
        <p:nvGraphicFramePr>
          <p:cNvPr id="4" name="Content Placeholder 3"/>
          <p:cNvGraphicFramePr/>
          <p:nvPr>
            <p:ph idx="1"/>
          </p:nvPr>
        </p:nvGraphicFramePr>
        <p:xfrm>
          <a:off x="290195" y="980440"/>
          <a:ext cx="11731625" cy="5040630"/>
        </p:xfrm>
        <a:graphic>
          <a:graphicData uri="http://schemas.openxmlformats.org/drawingml/2006/table">
            <a:tbl>
              <a:tblPr firstRow="1" bandRow="1">
                <a:tableStyleId>{5C22544A-7EE6-4342-B048-85BDC9FD1C3A}</a:tableStyleId>
              </a:tblPr>
              <a:tblGrid>
                <a:gridCol w="2346325"/>
                <a:gridCol w="2346325"/>
                <a:gridCol w="2346325"/>
                <a:gridCol w="2346325"/>
                <a:gridCol w="2346325"/>
              </a:tblGrid>
              <a:tr h="840105">
                <a:tc>
                  <a:txBody>
                    <a:bodyPr/>
                    <a:p>
                      <a:pPr>
                        <a:buNone/>
                      </a:pPr>
                      <a:r>
                        <a:rPr lang="en-US" sz="3600"/>
                        <a:t>Student   </a:t>
                      </a:r>
                      <a:endParaRPr lang="en-US" sz="3600"/>
                    </a:p>
                  </a:txBody>
                  <a:tcPr/>
                </a:tc>
                <a:tc>
                  <a:txBody>
                    <a:bodyPr/>
                    <a:p>
                      <a:pPr>
                        <a:buNone/>
                      </a:pPr>
                      <a:r>
                        <a:rPr lang="en-US" sz="3600">
                          <a:sym typeface="+mn-ea"/>
                        </a:rPr>
                        <a:t>Math   </a:t>
                      </a:r>
                      <a:endParaRPr lang="en-US" sz="3600">
                        <a:sym typeface="+mn-ea"/>
                      </a:endParaRPr>
                    </a:p>
                  </a:txBody>
                  <a:tcPr/>
                </a:tc>
                <a:tc>
                  <a:txBody>
                    <a:bodyPr/>
                    <a:p>
                      <a:pPr>
                        <a:buNone/>
                      </a:pPr>
                      <a:r>
                        <a:rPr lang="en-US" sz="3600">
                          <a:sym typeface="+mn-ea"/>
                        </a:rPr>
                        <a:t>Physics   </a:t>
                      </a:r>
                      <a:endParaRPr lang="en-US" sz="3600">
                        <a:sym typeface="+mn-ea"/>
                      </a:endParaRPr>
                    </a:p>
                  </a:txBody>
                  <a:tcPr/>
                </a:tc>
                <a:tc>
                  <a:txBody>
                    <a:bodyPr/>
                    <a:p>
                      <a:pPr>
                        <a:buNone/>
                      </a:pPr>
                      <a:r>
                        <a:rPr lang="en-US" sz="3600">
                          <a:sym typeface="+mn-ea"/>
                        </a:rPr>
                        <a:t>Chemistry   </a:t>
                      </a:r>
                      <a:endParaRPr lang="en-US" sz="3600">
                        <a:sym typeface="+mn-ea"/>
                      </a:endParaRPr>
                    </a:p>
                  </a:txBody>
                  <a:tcPr/>
                </a:tc>
                <a:tc>
                  <a:txBody>
                    <a:bodyPr/>
                    <a:p>
                      <a:pPr>
                        <a:buNone/>
                      </a:pPr>
                      <a:r>
                        <a:rPr lang="en-US" sz="3600">
                          <a:sym typeface="+mn-ea"/>
                        </a:rPr>
                        <a:t>English</a:t>
                      </a:r>
                      <a:endParaRPr lang="en-US" sz="3600">
                        <a:sym typeface="+mn-ea"/>
                      </a:endParaRPr>
                    </a:p>
                  </a:txBody>
                  <a:tcPr/>
                </a:tc>
              </a:tr>
              <a:tr h="840105">
                <a:tc>
                  <a:txBody>
                    <a:bodyPr/>
                    <a:p>
                      <a:pPr>
                        <a:buNone/>
                      </a:pPr>
                      <a:r>
                        <a:rPr lang="en-US" sz="3600"/>
                        <a:t>S1</a:t>
                      </a:r>
                      <a:endParaRPr lang="en-US" sz="3600"/>
                    </a:p>
                  </a:txBody>
                  <a:tcPr/>
                </a:tc>
                <a:tc>
                  <a:txBody>
                    <a:bodyPr/>
                    <a:p>
                      <a:pPr>
                        <a:buNone/>
                      </a:pPr>
                      <a:r>
                        <a:rPr lang="en-US" sz="3600"/>
                        <a:t>50 </a:t>
                      </a:r>
                      <a:endParaRPr lang="en-US" sz="3600"/>
                    </a:p>
                  </a:txBody>
                  <a:tcPr/>
                </a:tc>
                <a:tc>
                  <a:txBody>
                    <a:bodyPr/>
                    <a:p>
                      <a:pPr>
                        <a:buNone/>
                      </a:pPr>
                      <a:r>
                        <a:rPr lang="en-US" sz="3600"/>
                        <a:t>?</a:t>
                      </a:r>
                      <a:endParaRPr lang="en-US" sz="3600"/>
                    </a:p>
                  </a:txBody>
                  <a:tcPr/>
                </a:tc>
                <a:tc>
                  <a:txBody>
                    <a:bodyPr/>
                    <a:p>
                      <a:pPr>
                        <a:buNone/>
                      </a:pPr>
                      <a:r>
                        <a:rPr lang="en-US" sz="3600"/>
                        <a:t>51</a:t>
                      </a:r>
                      <a:endParaRPr lang="en-US" sz="3600"/>
                    </a:p>
                  </a:txBody>
                  <a:tcPr/>
                </a:tc>
                <a:tc>
                  <a:txBody>
                    <a:bodyPr/>
                    <a:p>
                      <a:pPr>
                        <a:buNone/>
                      </a:pPr>
                      <a:r>
                        <a:rPr lang="en-US" sz="3600"/>
                        <a:t>?</a:t>
                      </a:r>
                      <a:endParaRPr lang="en-US" sz="3600"/>
                    </a:p>
                  </a:txBody>
                  <a:tcPr/>
                </a:tc>
              </a:tr>
              <a:tr h="840105">
                <a:tc>
                  <a:txBody>
                    <a:bodyPr/>
                    <a:p>
                      <a:pPr>
                        <a:buNone/>
                      </a:pPr>
                      <a:r>
                        <a:rPr lang="en-US" sz="3600"/>
                        <a:t>S2</a:t>
                      </a:r>
                      <a:endParaRPr lang="en-US" sz="3600"/>
                    </a:p>
                  </a:txBody>
                  <a:tcPr/>
                </a:tc>
                <a:tc>
                  <a:txBody>
                    <a:bodyPr/>
                    <a:p>
                      <a:pPr>
                        <a:buNone/>
                      </a:pPr>
                      <a:r>
                        <a:rPr lang="en-US" sz="3600"/>
                        <a:t>60</a:t>
                      </a:r>
                      <a:endParaRPr lang="en-US" sz="3600"/>
                    </a:p>
                  </a:txBody>
                  <a:tcPr/>
                </a:tc>
                <a:tc>
                  <a:txBody>
                    <a:bodyPr/>
                    <a:p>
                      <a:pPr>
                        <a:buNone/>
                      </a:pPr>
                      <a:r>
                        <a:rPr lang="en-US" sz="3600"/>
                        <a:t>62</a:t>
                      </a:r>
                      <a:endParaRPr lang="en-US" sz="3600"/>
                    </a:p>
                  </a:txBody>
                  <a:tcPr/>
                </a:tc>
                <a:tc>
                  <a:txBody>
                    <a:bodyPr/>
                    <a:p>
                      <a:pPr>
                        <a:buNone/>
                      </a:pPr>
                      <a:r>
                        <a:rPr lang="en-US" sz="3600"/>
                        <a:t>?</a:t>
                      </a:r>
                      <a:endParaRPr lang="en-US" sz="3600"/>
                    </a:p>
                  </a:txBody>
                  <a:tcPr/>
                </a:tc>
                <a:tc>
                  <a:txBody>
                    <a:bodyPr/>
                    <a:p>
                      <a:pPr>
                        <a:buNone/>
                      </a:pPr>
                      <a:r>
                        <a:rPr lang="en-US" sz="3600"/>
                        <a:t>?</a:t>
                      </a:r>
                      <a:endParaRPr lang="en-US" sz="3600"/>
                    </a:p>
                  </a:txBody>
                  <a:tcPr/>
                </a:tc>
              </a:tr>
              <a:tr h="840105">
                <a:tc>
                  <a:txBody>
                    <a:bodyPr/>
                    <a:p>
                      <a:pPr>
                        <a:buNone/>
                      </a:pPr>
                      <a:r>
                        <a:rPr lang="en-US" sz="3600"/>
                        <a:t>S3</a:t>
                      </a:r>
                      <a:endParaRPr lang="en-US" sz="3600"/>
                    </a:p>
                  </a:txBody>
                  <a:tcPr/>
                </a:tc>
                <a:tc>
                  <a:txBody>
                    <a:bodyPr/>
                    <a:p>
                      <a:pPr>
                        <a:buNone/>
                      </a:pPr>
                      <a:r>
                        <a:rPr lang="en-US" sz="3600"/>
                        <a:t>70</a:t>
                      </a:r>
                      <a:endParaRPr lang="en-US" sz="3600"/>
                    </a:p>
                  </a:txBody>
                  <a:tcPr/>
                </a:tc>
                <a:tc>
                  <a:txBody>
                    <a:bodyPr/>
                    <a:p>
                      <a:pPr>
                        <a:buNone/>
                      </a:pPr>
                      <a:r>
                        <a:rPr lang="en-US" sz="3600"/>
                        <a:t>?</a:t>
                      </a:r>
                      <a:endParaRPr lang="en-US" sz="3600"/>
                    </a:p>
                  </a:txBody>
                  <a:tcPr/>
                </a:tc>
                <a:tc>
                  <a:txBody>
                    <a:bodyPr/>
                    <a:p>
                      <a:pPr>
                        <a:buNone/>
                      </a:pPr>
                      <a:r>
                        <a:rPr lang="en-US" sz="3600"/>
                        <a:t>71</a:t>
                      </a:r>
                      <a:endParaRPr lang="en-US" sz="3600"/>
                    </a:p>
                  </a:txBody>
                  <a:tcPr/>
                </a:tc>
                <a:tc>
                  <a:txBody>
                    <a:bodyPr/>
                    <a:p>
                      <a:pPr>
                        <a:buNone/>
                      </a:pPr>
                      <a:r>
                        <a:rPr lang="en-US" sz="3600"/>
                        <a:t>?</a:t>
                      </a:r>
                      <a:endParaRPr lang="en-US" sz="3600"/>
                    </a:p>
                  </a:txBody>
                  <a:tcPr/>
                </a:tc>
              </a:tr>
              <a:tr h="840105">
                <a:tc>
                  <a:txBody>
                    <a:bodyPr/>
                    <a:p>
                      <a:pPr>
                        <a:buNone/>
                      </a:pPr>
                      <a:r>
                        <a:rPr lang="en-US" sz="3600"/>
                        <a:t>S4</a:t>
                      </a:r>
                      <a:endParaRPr lang="en-US" sz="3600"/>
                    </a:p>
                  </a:txBody>
                  <a:tcPr/>
                </a:tc>
                <a:tc>
                  <a:txBody>
                    <a:bodyPr/>
                    <a:p>
                      <a:pPr>
                        <a:buNone/>
                      </a:pPr>
                      <a:r>
                        <a:rPr lang="en-US" sz="3600"/>
                        <a:t>80</a:t>
                      </a:r>
                      <a:endParaRPr lang="en-US" sz="3600"/>
                    </a:p>
                  </a:txBody>
                  <a:tcPr/>
                </a:tc>
                <a:tc>
                  <a:txBody>
                    <a:bodyPr/>
                    <a:p>
                      <a:pPr>
                        <a:buNone/>
                      </a:pPr>
                      <a:r>
                        <a:rPr lang="en-US" sz="3600"/>
                        <a:t>82</a:t>
                      </a:r>
                      <a:endParaRPr lang="en-US" sz="3600"/>
                    </a:p>
                  </a:txBody>
                  <a:tcPr/>
                </a:tc>
                <a:tc>
                  <a:txBody>
                    <a:bodyPr/>
                    <a:p>
                      <a:pPr>
                        <a:buNone/>
                      </a:pPr>
                      <a:r>
                        <a:rPr lang="en-US" sz="3600"/>
                        <a:t>?</a:t>
                      </a:r>
                      <a:endParaRPr lang="en-US" sz="3600"/>
                    </a:p>
                  </a:txBody>
                  <a:tcPr/>
                </a:tc>
                <a:tc>
                  <a:txBody>
                    <a:bodyPr/>
                    <a:p>
                      <a:pPr>
                        <a:buNone/>
                      </a:pPr>
                      <a:r>
                        <a:rPr lang="en-US" sz="3600"/>
                        <a:t>?</a:t>
                      </a:r>
                      <a:endParaRPr lang="en-US" sz="3600"/>
                    </a:p>
                  </a:txBody>
                  <a:tcPr/>
                </a:tc>
              </a:tr>
              <a:tr h="840105">
                <a:tc>
                  <a:txBody>
                    <a:bodyPr/>
                    <a:p>
                      <a:pPr>
                        <a:buNone/>
                      </a:pPr>
                      <a:r>
                        <a:rPr lang="en-US" sz="3600"/>
                        <a:t>S5</a:t>
                      </a:r>
                      <a:endParaRPr lang="en-US" sz="3600"/>
                    </a:p>
                  </a:txBody>
                  <a:tcPr/>
                </a:tc>
                <a:tc>
                  <a:txBody>
                    <a:bodyPr/>
                    <a:p>
                      <a:pPr>
                        <a:buNone/>
                      </a:pPr>
                      <a:r>
                        <a:rPr lang="en-US" sz="3600"/>
                        <a:t>90</a:t>
                      </a:r>
                      <a:endParaRPr lang="en-US" sz="3600"/>
                    </a:p>
                  </a:txBody>
                  <a:tcPr/>
                </a:tc>
                <a:tc>
                  <a:txBody>
                    <a:bodyPr/>
                    <a:p>
                      <a:pPr>
                        <a:buNone/>
                      </a:pPr>
                      <a:r>
                        <a:rPr lang="en-US" sz="3600"/>
                        <a:t>?</a:t>
                      </a:r>
                      <a:endParaRPr lang="en-US" sz="3600"/>
                    </a:p>
                  </a:txBody>
                  <a:tcPr/>
                </a:tc>
                <a:tc>
                  <a:txBody>
                    <a:bodyPr/>
                    <a:p>
                      <a:pPr>
                        <a:buNone/>
                      </a:pPr>
                      <a:r>
                        <a:rPr lang="en-US" sz="3600"/>
                        <a:t>91</a:t>
                      </a:r>
                      <a:endParaRPr lang="en-US" sz="3600"/>
                    </a:p>
                  </a:txBody>
                  <a:tcPr/>
                </a:tc>
                <a:tc>
                  <a:txBody>
                    <a:bodyPr/>
                    <a:p>
                      <a:pPr>
                        <a:buNone/>
                      </a:pPr>
                      <a:r>
                        <a:rPr lang="en-US" sz="3600"/>
                        <a:t>?</a:t>
                      </a:r>
                      <a:endParaRPr lang="en-US" sz="3600"/>
                    </a:p>
                  </a:txBody>
                  <a:tcPr/>
                </a:tc>
              </a:tr>
            </a:tbl>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Step 1: Read the Heatmap Carefully</a:t>
            </a:r>
            <a:endParaRPr lang="en-US">
              <a:solidFill>
                <a:srgbClr val="FF0000"/>
              </a:solidFill>
            </a:endParaRPr>
          </a:p>
        </p:txBody>
      </p:sp>
      <p:sp>
        <p:nvSpPr>
          <p:cNvPr id="3" name="Content Placeholder 2"/>
          <p:cNvSpPr>
            <a:spLocks noGrp="1"/>
          </p:cNvSpPr>
          <p:nvPr>
            <p:ph idx="1"/>
          </p:nvPr>
        </p:nvSpPr>
        <p:spPr>
          <a:xfrm>
            <a:off x="290195" y="980440"/>
            <a:ext cx="11611610" cy="5608955"/>
          </a:xfrm>
        </p:spPr>
        <p:txBody>
          <a:bodyPr/>
          <a:p>
            <a:pPr>
              <a:lnSpc>
                <a:spcPct val="150000"/>
              </a:lnSpc>
            </a:pPr>
            <a:r>
              <a:rPr lang="en-US">
                <a:solidFill>
                  <a:srgbClr val="002060"/>
                </a:solidFill>
                <a:sym typeface="+mn-ea"/>
              </a:rPr>
              <a:t>Math–Physics ≈ 0.98 → very strong positive</a:t>
            </a:r>
            <a:endParaRPr lang="en-US">
              <a:solidFill>
                <a:srgbClr val="002060"/>
              </a:solidFill>
              <a:sym typeface="+mn-ea"/>
            </a:endParaRPr>
          </a:p>
          <a:p>
            <a:pPr>
              <a:lnSpc>
                <a:spcPct val="150000"/>
              </a:lnSpc>
            </a:pPr>
            <a:r>
              <a:rPr lang="en-US">
                <a:solidFill>
                  <a:srgbClr val="002060"/>
                </a:solidFill>
                <a:sym typeface="+mn-ea"/>
              </a:rPr>
              <a:t>Math–Chemistry ≈ 0.99 → very strong positive</a:t>
            </a:r>
            <a:endParaRPr lang="en-US">
              <a:solidFill>
                <a:srgbClr val="002060"/>
              </a:solidFill>
              <a:sym typeface="+mn-ea"/>
            </a:endParaRPr>
          </a:p>
          <a:p>
            <a:pPr>
              <a:lnSpc>
                <a:spcPct val="150000"/>
              </a:lnSpc>
            </a:pPr>
            <a:r>
              <a:rPr lang="en-US">
                <a:solidFill>
                  <a:srgbClr val="002060"/>
                </a:solidFill>
                <a:sym typeface="+mn-ea"/>
              </a:rPr>
              <a:t>Physics–Chemistry ≈ 1.00 → almost perfect</a:t>
            </a:r>
            <a:endParaRPr lang="en-US">
              <a:solidFill>
                <a:srgbClr val="002060"/>
              </a:solidFill>
              <a:sym typeface="+mn-ea"/>
            </a:endParaRPr>
          </a:p>
          <a:p>
            <a:pPr>
              <a:lnSpc>
                <a:spcPct val="150000"/>
              </a:lnSpc>
            </a:pPr>
            <a:r>
              <a:rPr lang="en-US">
                <a:solidFill>
                  <a:srgbClr val="002060"/>
                </a:solidFill>
                <a:sym typeface="+mn-ea"/>
              </a:rPr>
              <a:t>Math–English ≈ -0.72</a:t>
            </a:r>
            <a:endParaRPr lang="en-US">
              <a:solidFill>
                <a:srgbClr val="002060"/>
              </a:solidFill>
              <a:sym typeface="+mn-ea"/>
            </a:endParaRPr>
          </a:p>
          <a:p>
            <a:pPr>
              <a:lnSpc>
                <a:spcPct val="150000"/>
              </a:lnSpc>
            </a:pPr>
            <a:r>
              <a:rPr lang="en-US">
                <a:solidFill>
                  <a:srgbClr val="002060"/>
                </a:solidFill>
                <a:sym typeface="+mn-ea"/>
              </a:rPr>
              <a:t>Physics–English ≈ -0.66</a:t>
            </a:r>
            <a:endParaRPr lang="en-US">
              <a:solidFill>
                <a:srgbClr val="002060"/>
              </a:solidFill>
              <a:sym typeface="+mn-ea"/>
            </a:endParaRPr>
          </a:p>
          <a:p>
            <a:pPr>
              <a:lnSpc>
                <a:spcPct val="150000"/>
              </a:lnSpc>
            </a:pPr>
            <a:r>
              <a:rPr lang="en-US">
                <a:solidFill>
                  <a:srgbClr val="002060"/>
                </a:solidFill>
                <a:sym typeface="+mn-ea"/>
              </a:rPr>
              <a:t>Chemistry–English ≈ -0.69</a:t>
            </a:r>
            <a:endParaRPr lang="en-US">
              <a:solidFill>
                <a:srgbClr val="002060"/>
              </a:solidFill>
              <a:sym typeface="+mn-ea"/>
            </a:endParaRPr>
          </a:p>
          <a:p>
            <a:pPr>
              <a:lnSpc>
                <a:spcPct val="150000"/>
              </a:lnSpc>
            </a:pPr>
            <a:r>
              <a:rPr lang="en-US">
                <a:solidFill>
                  <a:srgbClr val="002060"/>
                </a:solidFill>
                <a:sym typeface="+mn-ea"/>
              </a:rPr>
              <a:t>English must decrease as others increase</a:t>
            </a:r>
            <a:endParaRPr lang="en-US">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Observe Given Data Pattern</a:t>
            </a:r>
            <a:endParaRPr lang="en-US">
              <a:solidFill>
                <a:srgbClr val="FF0000"/>
              </a:solidFill>
            </a:endParaRPr>
          </a:p>
        </p:txBody>
      </p:sp>
      <p:sp>
        <p:nvSpPr>
          <p:cNvPr id="3" name="Content Placeholder 2"/>
          <p:cNvSpPr>
            <a:spLocks noGrp="1"/>
          </p:cNvSpPr>
          <p:nvPr>
            <p:ph idx="1"/>
          </p:nvPr>
        </p:nvSpPr>
        <p:spPr>
          <a:xfrm>
            <a:off x="290195" y="980440"/>
            <a:ext cx="11611610" cy="5608955"/>
          </a:xfrm>
        </p:spPr>
        <p:txBody>
          <a:bodyPr/>
          <a:p>
            <a:pPr>
              <a:lnSpc>
                <a:spcPct val="150000"/>
              </a:lnSpc>
            </a:pPr>
            <a:r>
              <a:rPr lang="en-US">
                <a:solidFill>
                  <a:srgbClr val="002060"/>
                </a:solidFill>
                <a:sym typeface="+mn-ea"/>
              </a:rPr>
              <a:t>Math:       50, 60, 70, 80, 90  (strictly increasing)</a:t>
            </a:r>
            <a:endParaRPr lang="en-US">
              <a:solidFill>
                <a:srgbClr val="002060"/>
              </a:solidFill>
              <a:sym typeface="+mn-ea"/>
            </a:endParaRPr>
          </a:p>
          <a:p>
            <a:pPr>
              <a:lnSpc>
                <a:spcPct val="150000"/>
              </a:lnSpc>
            </a:pPr>
            <a:r>
              <a:rPr lang="en-US">
                <a:solidFill>
                  <a:srgbClr val="002060"/>
                </a:solidFill>
                <a:sym typeface="+mn-ea"/>
              </a:rPr>
              <a:t>Physics:    ?, 62, ?, 82, ?</a:t>
            </a:r>
            <a:endParaRPr lang="en-US">
              <a:solidFill>
                <a:srgbClr val="002060"/>
              </a:solidFill>
              <a:sym typeface="+mn-ea"/>
            </a:endParaRPr>
          </a:p>
          <a:p>
            <a:pPr>
              <a:lnSpc>
                <a:spcPct val="150000"/>
              </a:lnSpc>
            </a:pPr>
            <a:r>
              <a:rPr lang="en-US">
                <a:solidFill>
                  <a:srgbClr val="002060"/>
                </a:solidFill>
                <a:sym typeface="+mn-ea"/>
              </a:rPr>
              <a:t>Chemistry:  51, ?, 71, ?, 91</a:t>
            </a:r>
            <a:endParaRPr lang="en-US">
              <a:solidFill>
                <a:srgbClr val="002060"/>
              </a:solidFill>
              <a:sym typeface="+mn-ea"/>
            </a:endParaRPr>
          </a:p>
          <a:p>
            <a:pPr>
              <a:lnSpc>
                <a:spcPct val="150000"/>
              </a:lnSpc>
            </a:pPr>
            <a:r>
              <a:rPr lang="en-US">
                <a:solidFill>
                  <a:srgbClr val="002060"/>
                </a:solidFill>
                <a:sym typeface="+mn-ea"/>
              </a:rPr>
              <a:t>Chemistry ≈ Math + 1 </a:t>
            </a:r>
            <a:r>
              <a:rPr lang="en-US">
                <a:solidFill>
                  <a:srgbClr val="002060"/>
                </a:solidFill>
                <a:sym typeface="+mn-ea"/>
              </a:rPr>
              <a:t>(based on given values 51, 71)</a:t>
            </a:r>
            <a:endParaRPr lang="en-US">
              <a:solidFill>
                <a:srgbClr val="002060"/>
              </a:solidFill>
              <a:sym typeface="+mn-ea"/>
            </a:endParaRPr>
          </a:p>
          <a:p>
            <a:pPr>
              <a:lnSpc>
                <a:spcPct val="150000"/>
              </a:lnSpc>
            </a:pPr>
            <a:r>
              <a:rPr lang="en-US">
                <a:solidFill>
                  <a:srgbClr val="002060"/>
                </a:solidFill>
                <a:sym typeface="+mn-ea"/>
              </a:rPr>
              <a:t>Physics ≈ Math + 2 (based on given values 62, 82)</a:t>
            </a:r>
            <a:endParaRPr lang="en-US">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Step 3: Fill Physics Values</a:t>
            </a:r>
            <a:endParaRPr lang="en-US">
              <a:solidFill>
                <a:srgbClr val="FF0000"/>
              </a:solidFill>
            </a:endParaRPr>
          </a:p>
        </p:txBody>
      </p:sp>
      <p:sp>
        <p:nvSpPr>
          <p:cNvPr id="3" name="Content Placeholder 2"/>
          <p:cNvSpPr>
            <a:spLocks noGrp="1"/>
          </p:cNvSpPr>
          <p:nvPr>
            <p:ph idx="1"/>
          </p:nvPr>
        </p:nvSpPr>
        <p:spPr>
          <a:xfrm>
            <a:off x="290195" y="980440"/>
            <a:ext cx="11611610" cy="5608955"/>
          </a:xfrm>
        </p:spPr>
        <p:txBody>
          <a:bodyPr/>
          <a:p>
            <a:pPr>
              <a:lnSpc>
                <a:spcPct val="150000"/>
              </a:lnSpc>
            </a:pPr>
            <a:r>
              <a:rPr lang="en-US">
                <a:solidFill>
                  <a:srgbClr val="002060"/>
                </a:solidFill>
                <a:sym typeface="+mn-ea"/>
              </a:rPr>
              <a:t>S1: 50 → 52  </a:t>
            </a:r>
            <a:endParaRPr lang="en-US">
              <a:solidFill>
                <a:srgbClr val="002060"/>
              </a:solidFill>
              <a:sym typeface="+mn-ea"/>
            </a:endParaRPr>
          </a:p>
          <a:p>
            <a:pPr>
              <a:lnSpc>
                <a:spcPct val="150000"/>
              </a:lnSpc>
            </a:pPr>
            <a:r>
              <a:rPr lang="en-US">
                <a:solidFill>
                  <a:srgbClr val="002060"/>
                </a:solidFill>
                <a:sym typeface="+mn-ea"/>
              </a:rPr>
              <a:t>S3: 70 → 72  </a:t>
            </a:r>
            <a:endParaRPr lang="en-US">
              <a:solidFill>
                <a:srgbClr val="002060"/>
              </a:solidFill>
              <a:sym typeface="+mn-ea"/>
            </a:endParaRPr>
          </a:p>
          <a:p>
            <a:pPr>
              <a:lnSpc>
                <a:spcPct val="150000"/>
              </a:lnSpc>
            </a:pPr>
            <a:r>
              <a:rPr lang="en-US">
                <a:solidFill>
                  <a:srgbClr val="002060"/>
                </a:solidFill>
                <a:sym typeface="+mn-ea"/>
              </a:rPr>
              <a:t>S5: 90 → 92</a:t>
            </a:r>
            <a:endParaRPr lang="en-US">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Step 4: Fill Chemistry Values</a:t>
            </a:r>
            <a:endParaRPr lang="en-US">
              <a:solidFill>
                <a:srgbClr val="FF0000"/>
              </a:solidFill>
            </a:endParaRPr>
          </a:p>
        </p:txBody>
      </p:sp>
      <p:sp>
        <p:nvSpPr>
          <p:cNvPr id="3" name="Content Placeholder 2"/>
          <p:cNvSpPr>
            <a:spLocks noGrp="1"/>
          </p:cNvSpPr>
          <p:nvPr>
            <p:ph idx="1"/>
          </p:nvPr>
        </p:nvSpPr>
        <p:spPr>
          <a:xfrm>
            <a:off x="290195" y="980440"/>
            <a:ext cx="11611610" cy="5608955"/>
          </a:xfrm>
        </p:spPr>
        <p:txBody>
          <a:bodyPr/>
          <a:p>
            <a:pPr>
              <a:lnSpc>
                <a:spcPct val="150000"/>
              </a:lnSpc>
            </a:pPr>
            <a:r>
              <a:rPr lang="en-US">
                <a:solidFill>
                  <a:srgbClr val="002060"/>
                </a:solidFill>
                <a:sym typeface="+mn-ea"/>
              </a:rPr>
              <a:t>Chemistry ≈ Math + 1</a:t>
            </a:r>
            <a:endParaRPr lang="en-US">
              <a:solidFill>
                <a:srgbClr val="002060"/>
              </a:solidFill>
              <a:sym typeface="+mn-ea"/>
            </a:endParaRPr>
          </a:p>
          <a:p>
            <a:pPr>
              <a:lnSpc>
                <a:spcPct val="150000"/>
              </a:lnSpc>
            </a:pPr>
            <a:r>
              <a:rPr lang="en-US">
                <a:solidFill>
                  <a:srgbClr val="002060"/>
                </a:solidFill>
                <a:sym typeface="+mn-ea"/>
              </a:rPr>
              <a:t>S2: 60 → 61  </a:t>
            </a:r>
            <a:endParaRPr lang="en-US">
              <a:solidFill>
                <a:srgbClr val="002060"/>
              </a:solidFill>
              <a:sym typeface="+mn-ea"/>
            </a:endParaRPr>
          </a:p>
          <a:p>
            <a:pPr>
              <a:lnSpc>
                <a:spcPct val="150000"/>
              </a:lnSpc>
            </a:pPr>
            <a:r>
              <a:rPr lang="en-US">
                <a:solidFill>
                  <a:srgbClr val="002060"/>
                </a:solidFill>
                <a:sym typeface="+mn-ea"/>
              </a:rPr>
              <a:t>S4: 80 → 81</a:t>
            </a:r>
            <a:endParaRPr lang="en-US">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Step 5: Decide English Trend</a:t>
            </a:r>
            <a:endParaRPr lang="en-US">
              <a:solidFill>
                <a:srgbClr val="FF0000"/>
              </a:solidFill>
            </a:endParaRPr>
          </a:p>
        </p:txBody>
      </p:sp>
      <p:sp>
        <p:nvSpPr>
          <p:cNvPr id="3" name="Content Placeholder 2"/>
          <p:cNvSpPr>
            <a:spLocks noGrp="1"/>
          </p:cNvSpPr>
          <p:nvPr>
            <p:ph idx="1"/>
          </p:nvPr>
        </p:nvSpPr>
        <p:spPr>
          <a:xfrm>
            <a:off x="290195" y="980440"/>
            <a:ext cx="11611610" cy="5608955"/>
          </a:xfrm>
        </p:spPr>
        <p:txBody>
          <a:bodyPr/>
          <a:p>
            <a:pPr>
              <a:lnSpc>
                <a:spcPct val="150000"/>
              </a:lnSpc>
            </a:pPr>
            <a:r>
              <a:rPr lang="en-US">
                <a:solidFill>
                  <a:srgbClr val="002060"/>
                </a:solidFill>
                <a:sym typeface="+mn-ea"/>
              </a:rPr>
              <a:t>From heatmap: Strong negative correlation</a:t>
            </a:r>
            <a:endParaRPr lang="en-US">
              <a:solidFill>
                <a:srgbClr val="002060"/>
              </a:solidFill>
              <a:sym typeface="+mn-ea"/>
            </a:endParaRPr>
          </a:p>
          <a:p>
            <a:pPr>
              <a:lnSpc>
                <a:spcPct val="150000"/>
              </a:lnSpc>
            </a:pPr>
            <a:r>
              <a:rPr lang="en-US">
                <a:solidFill>
                  <a:srgbClr val="002060"/>
                </a:solidFill>
                <a:sym typeface="+mn-ea"/>
              </a:rPr>
              <a:t>As Math increases → English must decrease</a:t>
            </a:r>
            <a:endParaRPr lang="en-US">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Step 6: Assign English Values</a:t>
            </a:r>
            <a:endParaRPr lang="en-US">
              <a:solidFill>
                <a:srgbClr val="FF0000"/>
              </a:solidFill>
            </a:endParaRPr>
          </a:p>
        </p:txBody>
      </p:sp>
      <p:sp>
        <p:nvSpPr>
          <p:cNvPr id="3" name="Content Placeholder 2"/>
          <p:cNvSpPr>
            <a:spLocks noGrp="1"/>
          </p:cNvSpPr>
          <p:nvPr>
            <p:ph idx="1"/>
          </p:nvPr>
        </p:nvSpPr>
        <p:spPr>
          <a:xfrm>
            <a:off x="290195" y="980440"/>
            <a:ext cx="11611610" cy="5608955"/>
          </a:xfrm>
        </p:spPr>
        <p:txBody>
          <a:bodyPr/>
          <a:p>
            <a:pPr>
              <a:lnSpc>
                <a:spcPct val="150000"/>
              </a:lnSpc>
            </a:pPr>
            <a:r>
              <a:rPr lang="en-US">
                <a:solidFill>
                  <a:srgbClr val="002060"/>
                </a:solidFill>
                <a:sym typeface="+mn-ea"/>
              </a:rPr>
              <a:t>Choose a monotonic decreasing sequence</a:t>
            </a:r>
            <a:endParaRPr lang="en-US">
              <a:solidFill>
                <a:srgbClr val="002060"/>
              </a:solidFill>
              <a:sym typeface="+mn-ea"/>
            </a:endParaRPr>
          </a:p>
          <a:p>
            <a:pPr>
              <a:lnSpc>
                <a:spcPct val="150000"/>
              </a:lnSpc>
            </a:pPr>
            <a:r>
              <a:rPr lang="en-US">
                <a:solidFill>
                  <a:srgbClr val="002060"/>
                </a:solidFill>
                <a:sym typeface="+mn-ea"/>
              </a:rPr>
              <a:t>Example:</a:t>
            </a:r>
            <a:endParaRPr lang="en-US">
              <a:solidFill>
                <a:srgbClr val="002060"/>
              </a:solidFill>
              <a:sym typeface="+mn-ea"/>
            </a:endParaRPr>
          </a:p>
          <a:p>
            <a:pPr>
              <a:lnSpc>
                <a:spcPct val="150000"/>
              </a:lnSpc>
            </a:pPr>
            <a:r>
              <a:rPr lang="en-US">
                <a:solidFill>
                  <a:srgbClr val="002060"/>
                </a:solidFill>
                <a:sym typeface="+mn-ea"/>
              </a:rPr>
              <a:t>90, 80, 70, 60, 50</a:t>
            </a:r>
            <a:endParaRPr lang="en-US">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Students will Learn</a:t>
            </a:r>
            <a:endParaRPr lang="en-US">
              <a:solidFill>
                <a:srgbClr val="FF0000"/>
              </a:solidFill>
            </a:endParaRPr>
          </a:p>
        </p:txBody>
      </p:sp>
      <p:sp>
        <p:nvSpPr>
          <p:cNvPr id="3" name="Content Placeholder 2"/>
          <p:cNvSpPr>
            <a:spLocks noGrp="1"/>
          </p:cNvSpPr>
          <p:nvPr>
            <p:ph idx="1"/>
          </p:nvPr>
        </p:nvSpPr>
        <p:spPr>
          <a:xfrm>
            <a:off x="290195" y="980440"/>
            <a:ext cx="11611610" cy="5608955"/>
          </a:xfrm>
        </p:spPr>
        <p:txBody>
          <a:bodyPr/>
          <a:p>
            <a:pPr>
              <a:lnSpc>
                <a:spcPct val="150000"/>
              </a:lnSpc>
            </a:pPr>
            <a:r>
              <a:rPr lang="en-US">
                <a:solidFill>
                  <a:srgbClr val="002060"/>
                </a:solidFill>
                <a:sym typeface="+mn-ea"/>
              </a:rPr>
              <a:t>Correlation is a trend, not exact value</a:t>
            </a:r>
            <a:endParaRPr lang="en-US">
              <a:solidFill>
                <a:srgbClr val="002060"/>
              </a:solidFill>
              <a:sym typeface="+mn-ea"/>
            </a:endParaRPr>
          </a:p>
          <a:p>
            <a:pPr>
              <a:lnSpc>
                <a:spcPct val="150000"/>
              </a:lnSpc>
            </a:pPr>
            <a:r>
              <a:rPr lang="en-US">
                <a:solidFill>
                  <a:srgbClr val="002060"/>
                </a:solidFill>
                <a:sym typeface="+mn-ea"/>
              </a:rPr>
              <a:t>Identify linear relationships</a:t>
            </a:r>
            <a:endParaRPr lang="en-US">
              <a:solidFill>
                <a:srgbClr val="002060"/>
              </a:solidFill>
              <a:sym typeface="+mn-ea"/>
            </a:endParaRPr>
          </a:p>
          <a:p>
            <a:pPr>
              <a:lnSpc>
                <a:spcPct val="150000"/>
              </a:lnSpc>
            </a:pPr>
            <a:r>
              <a:rPr lang="en-US">
                <a:solidFill>
                  <a:srgbClr val="002060"/>
                </a:solidFill>
                <a:sym typeface="+mn-ea"/>
              </a:rPr>
              <a:t>Maintain consistency across rows</a:t>
            </a:r>
            <a:endParaRPr lang="en-US">
              <a:solidFill>
                <a:srgbClr val="002060"/>
              </a:solidFill>
              <a:sym typeface="+mn-ea"/>
            </a:endParaRPr>
          </a:p>
          <a:p>
            <a:pPr>
              <a:lnSpc>
                <a:spcPct val="150000"/>
              </a:lnSpc>
            </a:pPr>
            <a:r>
              <a:rPr lang="en-US">
                <a:solidFill>
                  <a:srgbClr val="002060"/>
                </a:solidFill>
                <a:sym typeface="+mn-ea"/>
              </a:rPr>
              <a:t>Use monotonic increase/decrease</a:t>
            </a:r>
            <a:endParaRPr lang="en-US">
              <a:solidFill>
                <a:srgbClr val="002060"/>
              </a:solidFill>
              <a:sym typeface="+mn-ea"/>
            </a:endParaRPr>
          </a:p>
          <a:p>
            <a:pPr>
              <a:lnSpc>
                <a:spcPct val="150000"/>
              </a:lnSpc>
            </a:pPr>
            <a:r>
              <a:rPr lang="en-US">
                <a:solidFill>
                  <a:srgbClr val="002060"/>
                </a:solidFill>
                <a:sym typeface="+mn-ea"/>
              </a:rPr>
              <a:t>Ensure relationships match heatmap</a:t>
            </a:r>
            <a:endParaRPr lang="en-US">
              <a:solidFill>
                <a:srgbClr val="002060"/>
              </a:solidFill>
              <a:sym typeface="+mn-ea"/>
            </a:endParaRPr>
          </a:p>
          <a:p>
            <a:pPr>
              <a:lnSpc>
                <a:spcPct val="150000"/>
              </a:lnSpc>
            </a:pPr>
            <a:r>
              <a:rPr lang="en-US" b="1">
                <a:solidFill>
                  <a:srgbClr val="FF0000"/>
                </a:solidFill>
                <a:sym typeface="+mn-ea"/>
              </a:rPr>
              <a:t>Note: </a:t>
            </a:r>
            <a:r>
              <a:rPr lang="en-US">
                <a:solidFill>
                  <a:srgbClr val="002060"/>
                </a:solidFill>
                <a:sym typeface="+mn-ea"/>
              </a:rPr>
              <a:t>No single answer for the problems</a:t>
            </a:r>
            <a:endParaRPr lang="en-US">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Problem 2 - Wrong Value</a:t>
            </a:r>
            <a:endParaRPr lang="en-US">
              <a:solidFill>
                <a:srgbClr val="FF0000"/>
              </a:solidFill>
            </a:endParaRPr>
          </a:p>
        </p:txBody>
      </p:sp>
      <p:sp>
        <p:nvSpPr>
          <p:cNvPr id="3" name="Content Placeholder 2"/>
          <p:cNvSpPr>
            <a:spLocks noGrp="1"/>
          </p:cNvSpPr>
          <p:nvPr>
            <p:ph idx="1"/>
          </p:nvPr>
        </p:nvSpPr>
        <p:spPr>
          <a:xfrm>
            <a:off x="290195" y="980440"/>
            <a:ext cx="11611610" cy="5608955"/>
          </a:xfrm>
        </p:spPr>
        <p:txBody>
          <a:bodyPr/>
          <a:p>
            <a:pPr>
              <a:lnSpc>
                <a:spcPct val="130000"/>
              </a:lnSpc>
            </a:pPr>
            <a:r>
              <a:rPr lang="en-US">
                <a:solidFill>
                  <a:srgbClr val="002060"/>
                </a:solidFill>
                <a:sym typeface="+mn-ea"/>
              </a:rPr>
              <a:t>Student   Math   Physics   Chemistry   English</a:t>
            </a:r>
            <a:endParaRPr lang="en-US">
              <a:solidFill>
                <a:srgbClr val="002060"/>
              </a:solidFill>
              <a:sym typeface="+mn-ea"/>
            </a:endParaRPr>
          </a:p>
          <a:p>
            <a:pPr>
              <a:lnSpc>
                <a:spcPct val="130000"/>
              </a:lnSpc>
            </a:pPr>
            <a:r>
              <a:rPr lang="en-US">
                <a:solidFill>
                  <a:srgbClr val="002060"/>
                </a:solidFill>
                <a:sym typeface="+mn-ea"/>
              </a:rPr>
              <a:t>S1        50      52         51          90</a:t>
            </a:r>
            <a:endParaRPr lang="en-US">
              <a:solidFill>
                <a:srgbClr val="002060"/>
              </a:solidFill>
              <a:sym typeface="+mn-ea"/>
            </a:endParaRPr>
          </a:p>
          <a:p>
            <a:pPr>
              <a:lnSpc>
                <a:spcPct val="130000"/>
              </a:lnSpc>
            </a:pPr>
            <a:r>
              <a:rPr lang="en-US">
                <a:solidFill>
                  <a:srgbClr val="002060"/>
                </a:solidFill>
                <a:sym typeface="+mn-ea"/>
              </a:rPr>
              <a:t>S2        60      62         61          85</a:t>
            </a:r>
            <a:endParaRPr lang="en-US">
              <a:solidFill>
                <a:srgbClr val="002060"/>
              </a:solidFill>
              <a:sym typeface="+mn-ea"/>
            </a:endParaRPr>
          </a:p>
          <a:p>
            <a:pPr>
              <a:lnSpc>
                <a:spcPct val="130000"/>
              </a:lnSpc>
            </a:pPr>
            <a:r>
              <a:rPr lang="en-US">
                <a:solidFill>
                  <a:srgbClr val="002060"/>
                </a:solidFill>
                <a:sym typeface="+mn-ea"/>
              </a:rPr>
              <a:t>S3        70      72         71          88   ❌</a:t>
            </a:r>
            <a:endParaRPr lang="en-US">
              <a:solidFill>
                <a:srgbClr val="002060"/>
              </a:solidFill>
              <a:sym typeface="+mn-ea"/>
            </a:endParaRPr>
          </a:p>
          <a:p>
            <a:pPr>
              <a:lnSpc>
                <a:spcPct val="130000"/>
              </a:lnSpc>
            </a:pPr>
            <a:r>
              <a:rPr lang="en-US">
                <a:solidFill>
                  <a:srgbClr val="002060"/>
                </a:solidFill>
                <a:sym typeface="+mn-ea"/>
              </a:rPr>
              <a:t>S4        80      82         81          60</a:t>
            </a:r>
            <a:endParaRPr lang="en-US">
              <a:solidFill>
                <a:srgbClr val="002060"/>
              </a:solidFill>
              <a:sym typeface="+mn-ea"/>
            </a:endParaRPr>
          </a:p>
          <a:p>
            <a:pPr>
              <a:lnSpc>
                <a:spcPct val="130000"/>
              </a:lnSpc>
            </a:pPr>
            <a:r>
              <a:rPr lang="en-US">
                <a:solidFill>
                  <a:srgbClr val="002060"/>
                </a:solidFill>
                <a:sym typeface="+mn-ea"/>
              </a:rPr>
              <a:t>S5        90      92         91          50</a:t>
            </a:r>
            <a:endParaRPr lang="en-US">
              <a:solidFill>
                <a:srgbClr val="002060"/>
              </a:solidFill>
              <a:sym typeface="+mn-ea"/>
            </a:endParaRPr>
          </a:p>
          <a:p>
            <a:pPr>
              <a:lnSpc>
                <a:spcPct val="130000"/>
              </a:lnSpc>
            </a:pPr>
            <a:r>
              <a:rPr lang="en-US">
                <a:solidFill>
                  <a:srgbClr val="002060"/>
                </a:solidFill>
                <a:sym typeface="+mn-ea"/>
              </a:rPr>
              <a:t>Identify the incorrect value</a:t>
            </a:r>
            <a:endParaRPr lang="en-US">
              <a:solidFill>
                <a:srgbClr val="002060"/>
              </a:solidFill>
              <a:sym typeface="+mn-ea"/>
            </a:endParaRPr>
          </a:p>
          <a:p>
            <a:pPr>
              <a:lnSpc>
                <a:spcPct val="130000"/>
              </a:lnSpc>
            </a:pPr>
            <a:r>
              <a:rPr lang="en-US">
                <a:solidFill>
                  <a:srgbClr val="002060"/>
                </a:solidFill>
                <a:sym typeface="+mn-ea"/>
              </a:rPr>
              <a:t>Fix it so correlations are preserved</a:t>
            </a:r>
            <a:endParaRPr lang="en-US">
              <a:solidFill>
                <a:srgbClr val="00206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Sample Data to Construct Decision Tree</a:t>
            </a:r>
            <a:endParaRPr lang="en-US">
              <a:solidFill>
                <a:srgbClr val="FF0000"/>
              </a:solidFill>
            </a:endParaRPr>
          </a:p>
        </p:txBody>
      </p:sp>
      <p:pic>
        <p:nvPicPr>
          <p:cNvPr id="4" name="Picture 3"/>
          <p:cNvPicPr>
            <a:picLocks noChangeAspect="1"/>
          </p:cNvPicPr>
          <p:nvPr/>
        </p:nvPicPr>
        <p:blipFill>
          <a:blip r:embed="rId1"/>
          <a:stretch>
            <a:fillRect/>
          </a:stretch>
        </p:blipFill>
        <p:spPr>
          <a:xfrm>
            <a:off x="2257425" y="1215390"/>
            <a:ext cx="7346315" cy="5583555"/>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Find Sample Data from the Decision Tree</a:t>
            </a:r>
            <a:endParaRPr lang="en-US">
              <a:solidFill>
                <a:srgbClr val="FF0000"/>
              </a:solidFill>
            </a:endParaRPr>
          </a:p>
        </p:txBody>
      </p:sp>
      <p:pic>
        <p:nvPicPr>
          <p:cNvPr id="9" name="Picture 8"/>
          <p:cNvPicPr>
            <a:picLocks noChangeAspect="1"/>
          </p:cNvPicPr>
          <p:nvPr/>
        </p:nvPicPr>
        <p:blipFill>
          <a:blip r:embed="rId1"/>
          <a:stretch>
            <a:fillRect/>
          </a:stretch>
        </p:blipFill>
        <p:spPr>
          <a:xfrm>
            <a:off x="1155065" y="1215390"/>
            <a:ext cx="9753600" cy="5324475"/>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Find Sample Data from the Decision Tree</a:t>
            </a:r>
            <a:endParaRPr lang="en-US">
              <a:solidFill>
                <a:srgbClr val="FF0000"/>
              </a:solidFill>
            </a:endParaRPr>
          </a:p>
        </p:txBody>
      </p:sp>
      <p:graphicFrame>
        <p:nvGraphicFramePr>
          <p:cNvPr id="4" name="Table 3"/>
          <p:cNvGraphicFramePr/>
          <p:nvPr/>
        </p:nvGraphicFramePr>
        <p:xfrm>
          <a:off x="675005" y="1032510"/>
          <a:ext cx="11279505" cy="4704715"/>
        </p:xfrm>
        <a:graphic>
          <a:graphicData uri="http://schemas.openxmlformats.org/drawingml/2006/table">
            <a:tbl>
              <a:tblPr firstRow="1" bandRow="1">
                <a:tableStyleId>{5C22544A-7EE6-4342-B048-85BDC9FD1C3A}</a:tableStyleId>
              </a:tblPr>
              <a:tblGrid>
                <a:gridCol w="1322070"/>
                <a:gridCol w="1569720"/>
                <a:gridCol w="1948815"/>
                <a:gridCol w="1686560"/>
                <a:gridCol w="2378710"/>
                <a:gridCol w="2373630"/>
              </a:tblGrid>
              <a:tr h="1188720">
                <a:tc>
                  <a:txBody>
                    <a:bodyPr/>
                    <a:p>
                      <a:pPr>
                        <a:buNone/>
                      </a:pPr>
                      <a:r>
                        <a:rPr lang="en-US" sz="3600"/>
                        <a:t>ID</a:t>
                      </a:r>
                      <a:endParaRPr lang="en-US" sz="3600"/>
                    </a:p>
                  </a:txBody>
                  <a:tcPr/>
                </a:tc>
                <a:tc>
                  <a:txBody>
                    <a:bodyPr/>
                    <a:p>
                      <a:pPr>
                        <a:buNone/>
                      </a:pPr>
                      <a:r>
                        <a:rPr lang="en-US" sz="3600"/>
                        <a:t>age</a:t>
                      </a:r>
                      <a:endParaRPr lang="en-US" sz="3600"/>
                    </a:p>
                  </a:txBody>
                  <a:tcPr/>
                </a:tc>
                <a:tc>
                  <a:txBody>
                    <a:bodyPr/>
                    <a:p>
                      <a:pPr>
                        <a:buNone/>
                      </a:pPr>
                      <a:r>
                        <a:rPr lang="en-US" sz="3600">
                          <a:solidFill>
                            <a:schemeClr val="accent6">
                              <a:lumMod val="75000"/>
                            </a:schemeClr>
                          </a:solidFill>
                        </a:rPr>
                        <a:t>income</a:t>
                      </a:r>
                      <a:endParaRPr lang="en-US" sz="3600">
                        <a:solidFill>
                          <a:schemeClr val="accent6">
                            <a:lumMod val="75000"/>
                          </a:schemeClr>
                        </a:solidFill>
                      </a:endParaRPr>
                    </a:p>
                  </a:txBody>
                  <a:tcPr/>
                </a:tc>
                <a:tc>
                  <a:txBody>
                    <a:bodyPr/>
                    <a:p>
                      <a:pPr>
                        <a:buNone/>
                      </a:pPr>
                      <a:r>
                        <a:rPr lang="en-US" sz="3600"/>
                        <a:t>student</a:t>
                      </a:r>
                      <a:endParaRPr lang="en-US" sz="3600"/>
                    </a:p>
                  </a:txBody>
                  <a:tcPr/>
                </a:tc>
                <a:tc>
                  <a:txBody>
                    <a:bodyPr/>
                    <a:p>
                      <a:pPr>
                        <a:buNone/>
                      </a:pPr>
                      <a:r>
                        <a:rPr lang="en-US" sz="3600"/>
                        <a:t>credit_rating</a:t>
                      </a:r>
                      <a:endParaRPr lang="en-US" sz="3600"/>
                    </a:p>
                  </a:txBody>
                  <a:tcPr/>
                </a:tc>
                <a:tc>
                  <a:txBody>
                    <a:bodyPr/>
                    <a:p>
                      <a:pPr>
                        <a:buNone/>
                      </a:pPr>
                      <a:r>
                        <a:rPr lang="en-US" sz="3600"/>
                        <a:t>buys_computer</a:t>
                      </a:r>
                      <a:endParaRPr lang="en-US" sz="3600"/>
                    </a:p>
                  </a:txBody>
                  <a:tcPr/>
                </a:tc>
              </a:tr>
              <a:tr h="640080">
                <a:tc>
                  <a:txBody>
                    <a:bodyPr/>
                    <a:p>
                      <a:pPr>
                        <a:buNone/>
                      </a:pPr>
                      <a:r>
                        <a:rPr lang="en-US" sz="3600"/>
                        <a:t>1</a:t>
                      </a:r>
                      <a:endParaRPr lang="en-US" sz="3600"/>
                    </a:p>
                  </a:txBody>
                  <a:tcPr/>
                </a:tc>
                <a:tc>
                  <a:txBody>
                    <a:bodyPr/>
                    <a:p>
                      <a:pPr>
                        <a:buNone/>
                      </a:pPr>
                      <a:r>
                        <a:rPr lang="en-US" sz="3600"/>
                        <a:t>&lt;=30</a:t>
                      </a:r>
                      <a:endParaRPr lang="en-US" sz="3600"/>
                    </a:p>
                  </a:txBody>
                  <a:tcPr/>
                </a:tc>
                <a:tc>
                  <a:txBody>
                    <a:bodyPr/>
                    <a:p>
                      <a:pPr>
                        <a:buNone/>
                      </a:pPr>
                      <a:r>
                        <a:rPr lang="en-US" sz="3600">
                          <a:solidFill>
                            <a:schemeClr val="accent6">
                              <a:lumMod val="75000"/>
                            </a:schemeClr>
                          </a:solidFill>
                        </a:rPr>
                        <a:t>high</a:t>
                      </a:r>
                      <a:endParaRPr lang="en-US" sz="3600">
                        <a:solidFill>
                          <a:schemeClr val="accent6">
                            <a:lumMod val="75000"/>
                          </a:schemeClr>
                        </a:solidFill>
                      </a:endParaRPr>
                    </a:p>
                  </a:txBody>
                  <a:tcPr/>
                </a:tc>
                <a:tc>
                  <a:txBody>
                    <a:bodyPr/>
                    <a:p>
                      <a:pPr>
                        <a:buNone/>
                      </a:pPr>
                      <a:r>
                        <a:rPr lang="en-US" sz="3600"/>
                        <a:t>no</a:t>
                      </a:r>
                      <a:endParaRPr lang="en-US" sz="3600"/>
                    </a:p>
                  </a:txBody>
                  <a:tcPr/>
                </a:tc>
                <a:tc>
                  <a:txBody>
                    <a:bodyPr/>
                    <a:p>
                      <a:pPr>
                        <a:buNone/>
                      </a:pPr>
                      <a:r>
                        <a:rPr lang="en-US" sz="3600"/>
                        <a:t>fair</a:t>
                      </a:r>
                      <a:endParaRPr lang="en-US" sz="3600"/>
                    </a:p>
                  </a:txBody>
                  <a:tcPr/>
                </a:tc>
                <a:tc>
                  <a:txBody>
                    <a:bodyPr/>
                    <a:p>
                      <a:pPr>
                        <a:buNone/>
                      </a:pPr>
                      <a:r>
                        <a:rPr lang="en-US" sz="3600"/>
                        <a:t>no</a:t>
                      </a:r>
                      <a:endParaRPr lang="en-US" sz="3600"/>
                    </a:p>
                  </a:txBody>
                  <a:tcPr/>
                </a:tc>
              </a:tr>
              <a:tr h="640080">
                <a:tc>
                  <a:txBody>
                    <a:bodyPr/>
                    <a:p>
                      <a:pPr>
                        <a:buNone/>
                      </a:pPr>
                      <a:r>
                        <a:rPr lang="en-US" sz="3600"/>
                        <a:t>2</a:t>
                      </a:r>
                      <a:endParaRPr lang="en-US" sz="3600"/>
                    </a:p>
                  </a:txBody>
                  <a:tcPr/>
                </a:tc>
                <a:tc>
                  <a:txBody>
                    <a:bodyPr/>
                    <a:p>
                      <a:pPr>
                        <a:buNone/>
                      </a:pPr>
                      <a:r>
                        <a:rPr lang="en-US" sz="3600"/>
                        <a:t>&lt;=30</a:t>
                      </a:r>
                      <a:endParaRPr lang="en-US" sz="3600"/>
                    </a:p>
                  </a:txBody>
                  <a:tcPr/>
                </a:tc>
                <a:tc>
                  <a:txBody>
                    <a:bodyPr/>
                    <a:p>
                      <a:pPr>
                        <a:buNone/>
                      </a:pPr>
                      <a:r>
                        <a:rPr lang="en-US" sz="3600">
                          <a:solidFill>
                            <a:schemeClr val="accent6">
                              <a:lumMod val="75000"/>
                            </a:schemeClr>
                          </a:solidFill>
                        </a:rPr>
                        <a:t>low</a:t>
                      </a:r>
                      <a:endParaRPr lang="en-US" sz="3600">
                        <a:solidFill>
                          <a:schemeClr val="accent6">
                            <a:lumMod val="75000"/>
                          </a:schemeClr>
                        </a:solidFill>
                      </a:endParaRPr>
                    </a:p>
                  </a:txBody>
                  <a:tcPr/>
                </a:tc>
                <a:tc>
                  <a:txBody>
                    <a:bodyPr/>
                    <a:p>
                      <a:pPr>
                        <a:buNone/>
                      </a:pPr>
                      <a:r>
                        <a:rPr lang="en-US" sz="3600"/>
                        <a:t>yes</a:t>
                      </a:r>
                      <a:endParaRPr lang="en-US" sz="3600"/>
                    </a:p>
                  </a:txBody>
                  <a:tcPr/>
                </a:tc>
                <a:tc>
                  <a:txBody>
                    <a:bodyPr/>
                    <a:p>
                      <a:pPr>
                        <a:buNone/>
                      </a:pPr>
                      <a:r>
                        <a:rPr lang="en-US" sz="3600"/>
                        <a:t>excellent</a:t>
                      </a:r>
                      <a:endParaRPr lang="en-US" sz="3600"/>
                    </a:p>
                  </a:txBody>
                  <a:tcPr/>
                </a:tc>
                <a:tc>
                  <a:txBody>
                    <a:bodyPr/>
                    <a:p>
                      <a:pPr>
                        <a:buNone/>
                      </a:pPr>
                      <a:r>
                        <a:rPr lang="en-US" sz="3600"/>
                        <a:t>yes</a:t>
                      </a:r>
                      <a:endParaRPr lang="en-US" sz="3600"/>
                    </a:p>
                  </a:txBody>
                  <a:tcPr/>
                </a:tc>
              </a:tr>
              <a:tr h="640080">
                <a:tc>
                  <a:txBody>
                    <a:bodyPr/>
                    <a:p>
                      <a:pPr>
                        <a:buNone/>
                      </a:pPr>
                      <a:r>
                        <a:rPr lang="en-US" sz="3600"/>
                        <a:t>3</a:t>
                      </a:r>
                      <a:endParaRPr lang="en-US" sz="3600"/>
                    </a:p>
                  </a:txBody>
                  <a:tcPr/>
                </a:tc>
                <a:tc>
                  <a:txBody>
                    <a:bodyPr/>
                    <a:p>
                      <a:pPr>
                        <a:buNone/>
                      </a:pPr>
                      <a:r>
                        <a:rPr lang="en-US" sz="3600"/>
                        <a:t>31...40</a:t>
                      </a:r>
                      <a:endParaRPr lang="en-US" sz="3600"/>
                    </a:p>
                  </a:txBody>
                  <a:tcPr/>
                </a:tc>
                <a:tc>
                  <a:txBody>
                    <a:bodyPr/>
                    <a:p>
                      <a:pPr>
                        <a:buNone/>
                      </a:pPr>
                      <a:r>
                        <a:rPr lang="en-US" sz="3600">
                          <a:solidFill>
                            <a:schemeClr val="accent6">
                              <a:lumMod val="75000"/>
                            </a:schemeClr>
                          </a:solidFill>
                          <a:sym typeface="+mn-ea"/>
                        </a:rPr>
                        <a:t>low</a:t>
                      </a:r>
                      <a:endParaRPr lang="en-US" sz="3600">
                        <a:solidFill>
                          <a:schemeClr val="accent6">
                            <a:lumMod val="75000"/>
                          </a:schemeClr>
                        </a:solidFill>
                        <a:sym typeface="+mn-ea"/>
                      </a:endParaRPr>
                    </a:p>
                  </a:txBody>
                  <a:tcPr/>
                </a:tc>
                <a:tc>
                  <a:txBody>
                    <a:bodyPr/>
                    <a:p>
                      <a:pPr>
                        <a:buNone/>
                      </a:pPr>
                      <a:r>
                        <a:rPr lang="en-US" sz="3600"/>
                        <a:t>no</a:t>
                      </a:r>
                      <a:endParaRPr lang="en-US" sz="3600"/>
                    </a:p>
                  </a:txBody>
                  <a:tcPr/>
                </a:tc>
                <a:tc>
                  <a:txBody>
                    <a:bodyPr/>
                    <a:p>
                      <a:pPr>
                        <a:buNone/>
                      </a:pPr>
                      <a:r>
                        <a:rPr lang="en-US" sz="3600"/>
                        <a:t>fair</a:t>
                      </a:r>
                      <a:endParaRPr lang="en-US" sz="3600"/>
                    </a:p>
                  </a:txBody>
                  <a:tcPr/>
                </a:tc>
                <a:tc>
                  <a:txBody>
                    <a:bodyPr/>
                    <a:p>
                      <a:pPr>
                        <a:buNone/>
                      </a:pPr>
                      <a:r>
                        <a:rPr lang="en-US" sz="3600"/>
                        <a:t>yes</a:t>
                      </a:r>
                      <a:endParaRPr lang="en-US" sz="3600"/>
                    </a:p>
                  </a:txBody>
                  <a:tcPr/>
                </a:tc>
              </a:tr>
              <a:tr h="640080">
                <a:tc>
                  <a:txBody>
                    <a:bodyPr/>
                    <a:p>
                      <a:pPr>
                        <a:buNone/>
                      </a:pPr>
                      <a:r>
                        <a:rPr lang="en-US" sz="3600"/>
                        <a:t>4</a:t>
                      </a:r>
                      <a:endParaRPr lang="en-US" sz="3600"/>
                    </a:p>
                  </a:txBody>
                  <a:tcPr/>
                </a:tc>
                <a:tc>
                  <a:txBody>
                    <a:bodyPr/>
                    <a:p>
                      <a:pPr>
                        <a:buNone/>
                      </a:pPr>
                      <a:r>
                        <a:rPr lang="en-US" sz="3600"/>
                        <a:t>&gt;40</a:t>
                      </a:r>
                      <a:endParaRPr lang="en-US" sz="3600"/>
                    </a:p>
                  </a:txBody>
                  <a:tcPr/>
                </a:tc>
                <a:tc>
                  <a:txBody>
                    <a:bodyPr/>
                    <a:p>
                      <a:pPr>
                        <a:buNone/>
                      </a:pPr>
                      <a:r>
                        <a:rPr lang="en-US" sz="3600">
                          <a:solidFill>
                            <a:schemeClr val="accent6">
                              <a:lumMod val="75000"/>
                            </a:schemeClr>
                          </a:solidFill>
                        </a:rPr>
                        <a:t>low</a:t>
                      </a:r>
                      <a:endParaRPr lang="en-US" sz="3600">
                        <a:solidFill>
                          <a:schemeClr val="accent6">
                            <a:lumMod val="75000"/>
                          </a:schemeClr>
                        </a:solidFill>
                      </a:endParaRPr>
                    </a:p>
                  </a:txBody>
                  <a:tcPr/>
                </a:tc>
                <a:tc>
                  <a:txBody>
                    <a:bodyPr/>
                    <a:p>
                      <a:pPr>
                        <a:buNone/>
                      </a:pPr>
                      <a:r>
                        <a:rPr lang="en-US" sz="3600"/>
                        <a:t>yes</a:t>
                      </a:r>
                      <a:endParaRPr lang="en-US" sz="3600"/>
                    </a:p>
                  </a:txBody>
                  <a:tcPr/>
                </a:tc>
                <a:tc>
                  <a:txBody>
                    <a:bodyPr/>
                    <a:p>
                      <a:pPr>
                        <a:buNone/>
                      </a:pPr>
                      <a:r>
                        <a:rPr lang="en-US" sz="3600"/>
                        <a:t>fair</a:t>
                      </a:r>
                      <a:endParaRPr lang="en-US" sz="3600"/>
                    </a:p>
                  </a:txBody>
                  <a:tcPr/>
                </a:tc>
                <a:tc>
                  <a:txBody>
                    <a:bodyPr/>
                    <a:p>
                      <a:pPr>
                        <a:buNone/>
                      </a:pPr>
                      <a:r>
                        <a:rPr lang="en-US" sz="3600"/>
                        <a:t>yes</a:t>
                      </a:r>
                      <a:endParaRPr lang="en-US" sz="3600"/>
                    </a:p>
                  </a:txBody>
                  <a:tcPr/>
                </a:tc>
              </a:tr>
              <a:tr h="955675">
                <a:tc>
                  <a:txBody>
                    <a:bodyPr/>
                    <a:p>
                      <a:pPr>
                        <a:buNone/>
                      </a:pPr>
                      <a:r>
                        <a:rPr lang="en-US" sz="3600"/>
                        <a:t>5</a:t>
                      </a:r>
                      <a:endParaRPr lang="en-US" sz="3600"/>
                    </a:p>
                  </a:txBody>
                  <a:tcPr/>
                </a:tc>
                <a:tc>
                  <a:txBody>
                    <a:bodyPr/>
                    <a:p>
                      <a:pPr>
                        <a:buNone/>
                      </a:pPr>
                      <a:r>
                        <a:rPr lang="en-US" sz="3600"/>
                        <a:t>&gt;40</a:t>
                      </a:r>
                      <a:endParaRPr lang="en-US" sz="3600"/>
                    </a:p>
                  </a:txBody>
                  <a:tcPr/>
                </a:tc>
                <a:tc>
                  <a:txBody>
                    <a:bodyPr/>
                    <a:p>
                      <a:pPr>
                        <a:buNone/>
                      </a:pPr>
                      <a:r>
                        <a:rPr lang="en-US" sz="3600">
                          <a:solidFill>
                            <a:schemeClr val="accent6">
                              <a:lumMod val="75000"/>
                            </a:schemeClr>
                          </a:solidFill>
                          <a:sym typeface="+mn-ea"/>
                        </a:rPr>
                        <a:t>high</a:t>
                      </a:r>
                      <a:endParaRPr lang="en-US" sz="3600">
                        <a:solidFill>
                          <a:schemeClr val="accent6">
                            <a:lumMod val="75000"/>
                          </a:schemeClr>
                        </a:solidFill>
                        <a:sym typeface="+mn-ea"/>
                      </a:endParaRPr>
                    </a:p>
                  </a:txBody>
                  <a:tcPr/>
                </a:tc>
                <a:tc>
                  <a:txBody>
                    <a:bodyPr/>
                    <a:p>
                      <a:pPr>
                        <a:buNone/>
                      </a:pPr>
                      <a:r>
                        <a:rPr lang="en-US" sz="3600"/>
                        <a:t>no</a:t>
                      </a:r>
                      <a:endParaRPr lang="en-US" sz="3600"/>
                    </a:p>
                  </a:txBody>
                  <a:tcPr/>
                </a:tc>
                <a:tc>
                  <a:txBody>
                    <a:bodyPr/>
                    <a:p>
                      <a:pPr>
                        <a:buNone/>
                      </a:pPr>
                      <a:r>
                        <a:rPr lang="en-US" sz="3600"/>
                        <a:t>excellent</a:t>
                      </a:r>
                      <a:endParaRPr lang="en-US" sz="3600"/>
                    </a:p>
                  </a:txBody>
                  <a:tcPr/>
                </a:tc>
                <a:tc>
                  <a:txBody>
                    <a:bodyPr/>
                    <a:p>
                      <a:pPr>
                        <a:buNone/>
                      </a:pPr>
                      <a:r>
                        <a:rPr lang="en-US" sz="3600"/>
                        <a:t>no</a:t>
                      </a:r>
                      <a:endParaRPr lang="en-US" sz="3600"/>
                    </a:p>
                  </a:txBody>
                  <a:tcPr/>
                </a:tc>
              </a:tr>
            </a:tbl>
          </a:graphicData>
        </a:graphic>
      </p:graphicFrame>
      <p:sp>
        <p:nvSpPr>
          <p:cNvPr id="5" name="Text Box 4"/>
          <p:cNvSpPr txBox="1"/>
          <p:nvPr/>
        </p:nvSpPr>
        <p:spPr>
          <a:xfrm>
            <a:off x="377825" y="5808345"/>
            <a:ext cx="11268710" cy="1038860"/>
          </a:xfrm>
          <a:prstGeom prst="rect">
            <a:avLst/>
          </a:prstGeom>
          <a:noFill/>
        </p:spPr>
        <p:txBody>
          <a:bodyPr wrap="square" rtlCol="0">
            <a:spAutoFit/>
          </a:bodyPr>
          <a:p>
            <a:pPr>
              <a:lnSpc>
                <a:spcPct val="110000"/>
              </a:lnSpc>
            </a:pPr>
            <a:r>
              <a:rPr lang="en-US" sz="2800"/>
              <a:t>Income is inserted in such a way that the decision is yes for low income and no for high income which shall be given as part of the problem</a:t>
            </a:r>
            <a:endParaRPr lang="en-US" sz="280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83895" y="72073"/>
            <a:ext cx="10972800" cy="1143000"/>
          </a:xfrm>
        </p:spPr>
        <p:txBody>
          <a:bodyPr/>
          <a:p>
            <a:r>
              <a:rPr lang="en-US">
                <a:solidFill>
                  <a:srgbClr val="FF0000"/>
                </a:solidFill>
              </a:rPr>
              <a:t>Modified Decision Tree</a:t>
            </a:r>
            <a:endParaRPr lang="en-US">
              <a:solidFill>
                <a:srgbClr val="FF0000"/>
              </a:solidFill>
            </a:endParaRPr>
          </a:p>
        </p:txBody>
      </p:sp>
      <p:pic>
        <p:nvPicPr>
          <p:cNvPr id="3" name="Picture 2"/>
          <p:cNvPicPr>
            <a:picLocks noChangeAspect="1"/>
          </p:cNvPicPr>
          <p:nvPr/>
        </p:nvPicPr>
        <p:blipFill>
          <a:blip r:embed="rId1"/>
          <a:stretch>
            <a:fillRect/>
          </a:stretch>
        </p:blipFill>
        <p:spPr>
          <a:xfrm>
            <a:off x="1219200" y="1315085"/>
            <a:ext cx="9753600" cy="5324475"/>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81280" y="135255"/>
            <a:ext cx="11815445" cy="6586855"/>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7318</Words>
  <Application>WPS Presentation</Application>
  <PresentationFormat>宽屏</PresentationFormat>
  <Paragraphs>463</Paragraphs>
  <Slides>51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51</vt:i4>
      </vt:variant>
    </vt:vector>
  </HeadingPairs>
  <TitlesOfParts>
    <vt:vector size="60" baseType="lpstr">
      <vt:lpstr>Arial</vt:lpstr>
      <vt:lpstr>SimSun</vt:lpstr>
      <vt:lpstr>Wingdings</vt:lpstr>
      <vt:lpstr>Nimbus Roman No9 L</vt:lpstr>
      <vt:lpstr>Microsoft YaHei</vt:lpstr>
      <vt:lpstr>Droid Sans Fallback</vt:lpstr>
      <vt:lpstr>Arial Unicode MS</vt:lpstr>
      <vt:lpstr>SimSun</vt:lpstr>
      <vt:lpstr>Default Design</vt:lpstr>
      <vt:lpstr>Reverse Scaffolding and Test Case–Driven Learning</vt:lpstr>
      <vt:lpstr>Reverse-Engineer the Problem</vt:lpstr>
      <vt:lpstr>Staged Levels</vt:lpstr>
      <vt:lpstr>Inductive Inference</vt:lpstr>
      <vt:lpstr>Teaching Pedagogy - Inquiry-Based Learning</vt:lpstr>
      <vt:lpstr>Scaffolding </vt:lpstr>
      <vt:lpstr>The Learning Path</vt:lpstr>
      <vt:lpstr>Mirroring Real Software</vt:lpstr>
      <vt:lpstr>Fundamental</vt:lpstr>
      <vt:lpstr>Problem 1</vt:lpstr>
      <vt:lpstr>Problem 1</vt:lpstr>
      <vt:lpstr>Problem 1</vt:lpstr>
      <vt:lpstr>Problem 1</vt:lpstr>
      <vt:lpstr>Problem 1</vt:lpstr>
      <vt:lpstr>Problem 1</vt:lpstr>
      <vt:lpstr>Problem 2</vt:lpstr>
      <vt:lpstr>Problem 2</vt:lpstr>
      <vt:lpstr>Problem 2</vt:lpstr>
      <vt:lpstr>Problem 2</vt:lpstr>
      <vt:lpstr>Problem 2</vt:lpstr>
      <vt:lpstr>Problem 2</vt:lpstr>
      <vt:lpstr>Problem 1</vt:lpstr>
      <vt:lpstr>Define the Problem from the Procedure</vt:lpstr>
      <vt:lpstr>Solution Steps of the Problem</vt:lpstr>
      <vt:lpstr>Solution Steps of the Problem</vt:lpstr>
      <vt:lpstr>Solution Steps of the Problem</vt:lpstr>
      <vt:lpstr>Solution Steps of the Problem</vt:lpstr>
      <vt:lpstr>Solution Steps of the Problem</vt:lpstr>
      <vt:lpstr>Solution Steps of the Problem</vt:lpstr>
      <vt:lpstr>Solution Steps of the Problem</vt:lpstr>
      <vt:lpstr>Inquiry-based learning</vt:lpstr>
      <vt:lpstr>Inquiry-based learning</vt:lpstr>
      <vt:lpstr>Reverse Scaffolding (Definition-Last)</vt:lpstr>
      <vt:lpstr>Reverse Scaffolding (Definition-Last)</vt:lpstr>
      <vt:lpstr>Normalization</vt:lpstr>
      <vt:lpstr>Normalization</vt:lpstr>
      <vt:lpstr>Find Missing Data using Heat Map</vt:lpstr>
      <vt:lpstr>Find Missing Data using Heat Map</vt:lpstr>
      <vt:lpstr>Step 1: Read the Heatmap Carefully</vt:lpstr>
      <vt:lpstr>Observe Given Data Pattern</vt:lpstr>
      <vt:lpstr>Step 3: Fill Physics Values</vt:lpstr>
      <vt:lpstr>Step 4: Fill Chemistry Values</vt:lpstr>
      <vt:lpstr>Step 5: Decide English Trend</vt:lpstr>
      <vt:lpstr>Step 6: Assign English Values</vt:lpstr>
      <vt:lpstr>Students will Learn</vt:lpstr>
      <vt:lpstr>Problem 2 - Wrong Value</vt:lpstr>
      <vt:lpstr>Sample Data to Construct Decision Tree</vt:lpstr>
      <vt:lpstr>Find Sample Data from the Decision Tree</vt:lpstr>
      <vt:lpstr>Find Sample Data from the Decision Tree</vt:lpstr>
      <vt:lpstr>Modified Decision Tree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janaki</cp:lastModifiedBy>
  <cp:revision>186</cp:revision>
  <dcterms:created xsi:type="dcterms:W3CDTF">2026-05-21T08:18:18Z</dcterms:created>
  <dcterms:modified xsi:type="dcterms:W3CDTF">2026-05-21T08:18:18Z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1033-11.1.0.11723</vt:lpwstr>
  </property>
  <property fmtid="{D5CDD505-2E9C-101B-9397-08002B2CF9AE}" pid="3" name="ICV">
    <vt:lpwstr/>
  </property>
</Properties>
</file>